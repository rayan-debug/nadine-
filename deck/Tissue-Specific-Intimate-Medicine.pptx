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single claim the whole lecture defends: intimate treatment must be tissue-specific, indication-driven and biologically rational — not product- or device-driven.</a:t>
            </a:r>
          </a:p>
          <a:p>
            <a:r>
              <a:t>Fourteen slides, ten minutes of core material. Signpost the five movements: premise and anatomy, pigment and inflammation, energy and hierarchy, regeneration and evidence, framework and conclusion.</a:t>
            </a:r>
          </a:p>
          <a:p>
            <a:r>
              <a:t>Timing: 20 seconds. Do not read the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Labial dimensions in unselected women span a wide range — Lloyd's series recorded labia minora width from a few millimetres to roughly five centimetres, with marked asymmetry common and unrelated to symptoms.</a:t>
            </a:r>
          </a:p>
          <a:p>
            <a:r>
              <a:t>The clinical consequence: an appearance outside a patient's expectation is not, by itself, an indication. ACOG Committee Opinion 795 is explicit that counselling on normal variation precedes any discussion of intervention.</a:t>
            </a:r>
          </a:p>
          <a:p>
            <a:r>
              <a:t>Say plainly: we treat symptoms, function and disease. We do not treat a photograph. Timing: 45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once: Hart’s line traces in gold. Let it draw before speaking over it.</a:t>
            </a:r>
          </a:p>
          <a:p>
            <a:r>
              <a:t>Hart’s line runs along the medial aspect of the labia minora and marks the boundary between keratinised, ectodermally derived skin and the non-keratinised vestibular mucosa of urogenital-sinus origin. It is the most clinically useful landmark on the vulva and it is almost never drawn on an aesthetic consent form.</a:t>
            </a:r>
          </a:p>
          <a:p>
            <a:r>
              <a:t>Everything that follows — what you can apply, what you can inject, what energy you can deliver — changes when you cross that line. Name the tissue before you name the treatment. Timing: 50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labia majora — thick stratum corneum, deep rete ridges, follicles, sebaceous and apocrine glands, a competent barrier. Right: vestibule — non-keratinised, glycogen-rich, no corneum, no adnexa, superficial capillary loops.</a:t>
            </a:r>
          </a:p>
          <a:p>
            <a:r>
              <a:t>Oriba and Maibach measured percutaneous absorption of hydrocortisone and testosterone across vulvar versus forearm skin and found it substantially higher at the vulva. The practical reading: a concentration that is well tolerated on the face is not the same exposure here, and the absence of adnexa removes the reservoir and the re-epithelialisation source that facial resurfacing relies on.</a:t>
            </a:r>
          </a:p>
          <a:p>
            <a:r>
              <a:t>This is why facial protocols transplanted unchanged are the commonest source of iatrogenic injury in this field. Timing: 60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it one click at a time; seven clicks in total. Do not rush — this is the slide the room should remember.</a:t>
            </a:r>
          </a:p>
          <a:p>
            <a:r>
              <a:t>Friction and occlusion disrupt an already thin barrier. Barrier disruption drives low-grade inflammation. Inflammatory mediators — prostaglandins, leukotrienes, endothelin-1, stem cell factor — upregulate melanocyte activity. Melanin is transferred and, where the basement membrane is breached, dropped into the dermis. The visible result is post-inflammatory hyperpigmentation.</a:t>
            </a:r>
          </a:p>
          <a:p>
            <a:r>
              <a:t>The sixth node is the one we contribute: aggressive treatment aimed at the pigment re-injures the barrier and re-enters the loop at step two. Every escalation taken against an inflamed field buys a darker result.</a:t>
            </a:r>
          </a:p>
          <a:p>
            <a:r>
              <a:t>Timing: 90 seconds — the longest single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clicks. The left arm first, deliberately — it is the arm that ends careers.</a:t>
            </a:r>
          </a:p>
          <a:p>
            <a:r>
              <a:t>Any fixed, indurated, ulcerated, eroded or changing lesion is biopsied before a single aesthetic intervention. ABCDE criteria perform poorly on mucosal melanoma; a benign clinical impression is not a substitute for histology. Lichen sclerosus and differentiated VIN both carry malignant potential and both are routinely mistaken for pigmentary or textural complaints.</a:t>
            </a:r>
          </a:p>
          <a:p>
            <a:r>
              <a:t>The right arm is where most consultations actually sit — and even there, naming the driver comes before choosing a modality. If you cannot name the driver, you are not ready to treat. Timing: 60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click reveals where each agent class acts. The point of the slide is that a clinician who knows the pathway can reason about any product, including the ones that do not exist yet.</a:t>
            </a:r>
          </a:p>
          <a:p>
            <a:r>
              <a:t>Tranexamic acid acts upstream, on plasmin-mediated inflammatory signalling — which is why it outperforms pure tyrosinase inhibitors where inflammation is the driver. Azelaic acid and hydroquinone inhibit tyrosinase, the rate-limiting enzyme. Niacinamide reduces melanosome transfer to keratinocytes; retinoids act on transfer and on epidermal turnover.</a:t>
            </a:r>
          </a:p>
          <a:p>
            <a:r>
              <a:t>Be explicit about the evidence class: these data come from facial melasma and post-inflammatory hyperpigmentation trials. Vulvar use is extrapolation by mechanism, not by trial — and on non-keratinised mucosa the irritant potential of retinoids and acids is higher. Timing: 60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clicks, one modality class at a time. Deliberately no devices, no brands — the variable that matters is depth and chromophore, not the badge on the handpiece.</a:t>
            </a:r>
          </a:p>
          <a:p>
            <a:r>
              <a:t>Optical energy deposits superficially and is absorbed by melanin as well as by water; in richly pigmented skin the epidermis competes for the energy you intended for the dermis. Fractional delivery spares intervening tissue and relies on those islands for repair. Volumetric radiofrequency heats resistively, has no chromophore dependence, and can reach dermis and submucosa while the epidermis is comparatively spared.</a:t>
            </a:r>
          </a:p>
          <a:p>
            <a:r>
              <a:t>Hold the evidence honestly: the FDA's 2018 communication warned against energy devices marketed for vaginal ‘rejuvenation’, and Li's sham-controlled trial found fractional CO₂ no better than sham for postmenopausal vaginal symptoms at 12 months. Local oestrogen remains better evidenced for genitourinary syndrome of menopause. Timing: 60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clicks, building from the base upward — the order of the build is the argument.</a:t>
            </a:r>
          </a:p>
          <a:p>
            <a:r>
              <a:t>Foundation is barrier repair, inflammation control and friction elimination: bland emollients, pH-appropriate cleansing, breathable fabrics, reconsidered hair removal. Correction addresses surface — pigment, texture, hair. Structure addresses volume, laxity and scar. Regeneration addresses tissue quality. Maintenance is prevention and scheduled reassessment, not a repeat sale.</a:t>
            </a:r>
          </a:p>
          <a:p>
            <a:r>
              <a:t>The rule that governs the whole pyramid: you may not skip a tier because a patient has asked for a higher one. An inflamed, friction-driven field treated with energy or injectables returns darker, not lighter. Timing: 50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clicks: the cascade, then the therapeutic categories, then the caveat.</a:t>
            </a:r>
          </a:p>
          <a:p>
            <a:r>
              <a:t>Every regenerative approach in this field claims the same pathway: a stimulus produces cellular signalling, fibroblasts are recruited and activated, the extracellular matrix is remodelled, collagen and elastin are synthesised, and tissue quality improves. Polydeoxyribonucleotide acts partly through adenosine A2A receptor agonism with anti-inflammatory and pro-angiogenic effects; platelet concentrates deliver autologous growth factors; hyaluronic-acid and collagen-stimulating injectables act as scaffold and stimulus.</a:t>
            </a:r>
          </a:p>
          <a:p>
            <a:r>
              <a:t>Present these as categories with proposed mechanisms, not as products. The cascade is plausible and partly demonstrated in vitro and at other sites; the site-specific clinical evidence at the vulva is thin and heterogeneous, and one indication does not license another. Timing: 60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clicks place the categories, the sixth delivers the line. Resist the urge to move anything leftward for the room’s comfort.</a:t>
            </a:r>
          </a:p>
          <a:p>
            <a:r>
              <a:t>Autologous platelet concentrates have the largest genital literature and it is still small — Goldstein’s randomised, double-blind trial in vulvar lichen sclerosus found no significant benefit over placebo, which is exactly the kind of result that should temper enthusiasm. Polynucleotides have a coherent mechanism and mostly uncontrolled genital data. Collagen-stimulating injectables are extrapolated from facial and body use, and carry nodule risk if placed in the wrong plane.</a:t>
            </a:r>
          </a:p>
          <a:p>
            <a:r>
              <a:t>Extracellular vesicles and NAD⁺-related interventions are, at this site, pre-clinical rationale with active marketing. There is no FDA-approved exosome product and standing safety notifications exist. Naming that from the podium is part of the job. Timing: 70 seconds.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clicks, one stage each. Let RESTORE, REBUILD, REGENERATE and REFINE carry the visual weight — those four words are the deck’s takeaway.</a:t>
            </a:r>
          </a:p>
          <a:p>
            <a:r>
              <a:t>Assess: tissue, pathology, indication. Restore: barrier and inflammation — nothing above this stage is attempted until the field is quiet. Rebuild: structure and function. Regenerate: tissue quality through biostimulation and extracellular-matrix remodelling. Refine: pigment and texture, deliberately last, because pigment is the readout of everything beneath it. Maintain: reassessment and prevention.</a:t>
            </a:r>
          </a:p>
          <a:p>
            <a:r>
              <a:t>State the epistemic status out loud: this is an expert clinical framework, offered as an organising heuristic. It is not a guideline and it has not been validated prospectively. Timing: 60 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clicks. Say each line once and stop — do not gloss them.</a:t>
            </a:r>
          </a:p>
          <a:p>
            <a:r>
              <a:t>Diagnose before treating: the biopsy threshold is low and the cost of missing differentiated VIN or mucosal melanoma is absolute. Match treatment to tissue: Hart’s line changes what is safe on either side of it. Escalate according to evidence: name the evidence class — established, extrapolated, emerging, or expert framework — every time you offer something.</a:t>
            </a:r>
          </a:p>
          <a:p>
            <a:r>
              <a:t>Close on the final line and let it sit. Timing: 40 seconds.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slide up through questions. The left code opens the full reference list for every claim made in the lecture; the right opens the longer teaching resource.</a:t>
            </a:r>
          </a:p>
          <a:p>
            <a:r>
              <a:t>If time has run short, the three slides worth returning to in discussion are Hart’s line, the inflammation–pigment cycle and the evidence spectrum.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pic>
        <p:nvPicPr>
          <p:cNvPr id="2" name="Picture 1" descr="s01-0.png"/>
          <p:cNvPicPr>
            <a:picLocks noChangeAspect="1"/>
          </p:cNvPicPr>
          <p:nvPr/>
        </p:nvPicPr>
        <p:blipFill>
          <a:blip r:embed="rId2"/>
          <a:stretch>
            <a:fillRect/>
          </a:stretch>
        </p:blipFill>
        <p:spPr>
          <a:xfrm>
            <a:off x="0" y="3873490"/>
            <a:ext cx="12191969" cy="2984492"/>
          </a:xfrm>
          <a:prstGeom prst="rect">
            <a:avLst/>
          </a:prstGeom>
        </p:spPr>
      </p:pic>
      <p:sp>
        <p:nvSpPr>
          <p:cNvPr id="3" name="TextBox 2"/>
          <p:cNvSpPr txBox="1"/>
          <p:nvPr/>
        </p:nvSpPr>
        <p:spPr>
          <a:xfrm>
            <a:off x="2270627" y="845754"/>
            <a:ext cx="7650715" cy="203199"/>
          </a:xfrm>
          <a:prstGeom prst="rect">
            <a:avLst/>
          </a:prstGeom>
          <a:noFill/>
        </p:spPr>
        <p:txBody>
          <a:bodyPr wrap="none" lIns="0" rIns="0" tIns="0" bIns="0" anchor="ctr">
            <a:noAutofit/>
          </a:bodyPr>
          <a:lstStyle/>
          <a:p>
            <a:pPr algn="ctr">
              <a:lnSpc>
                <a:spcPts val="1560"/>
              </a:lnSpc>
            </a:pPr>
            <a:r>
              <a:rPr sz="1300" b="1" i="0" spc="416">
                <a:solidFill>
                  <a:srgbClr val="8A6A1C"/>
                </a:solidFill>
                <a:latin typeface="Montserrat"/>
              </a:rPr>
              <a:t>FUNCTIONAL · AESTHETIC · REGENERATIVE GYNAECOLOGY</a:t>
            </a:r>
          </a:p>
        </p:txBody>
      </p:sp>
      <p:sp>
        <p:nvSpPr>
          <p:cNvPr id="4" name="TextBox 3"/>
          <p:cNvSpPr txBox="1"/>
          <p:nvPr/>
        </p:nvSpPr>
        <p:spPr>
          <a:xfrm>
            <a:off x="3350632" y="1302953"/>
            <a:ext cx="5490768" cy="2253927"/>
          </a:xfrm>
          <a:prstGeom prst="rect">
            <a:avLst/>
          </a:prstGeom>
          <a:noFill/>
        </p:spPr>
        <p:txBody>
          <a:bodyPr wrap="square" lIns="0" rIns="0" tIns="0" bIns="0" anchor="t">
            <a:noAutofit/>
          </a:bodyPr>
          <a:lstStyle/>
          <a:p>
            <a:pPr algn="ctr">
              <a:lnSpc>
                <a:spcPts val="5916"/>
              </a:lnSpc>
            </a:pPr>
            <a:r>
              <a:rPr sz="5800" b="1" i="0" spc="23">
                <a:solidFill>
                  <a:srgbClr val="2E2B26"/>
                </a:solidFill>
                <a:latin typeface="Cormorant Garamond"/>
              </a:rPr>
              <a:t>Tissue-Specific</a:t>
            </a:r>
          </a:p>
          <a:p>
            <a:pPr algn="ctr">
              <a:lnSpc>
                <a:spcPts val="5916"/>
              </a:lnSpc>
            </a:pPr>
            <a:r>
              <a:rPr sz="5800" b="1" i="0" spc="23">
                <a:solidFill>
                  <a:srgbClr val="2E2B26"/>
                </a:solidFill>
                <a:latin typeface="Cormorant Garamond"/>
              </a:rPr>
              <a:t>Intimate Medicine</a:t>
            </a:r>
          </a:p>
        </p:txBody>
      </p:sp>
      <p:sp>
        <p:nvSpPr>
          <p:cNvPr id="5" name="TextBox 4"/>
          <p:cNvSpPr txBox="1"/>
          <p:nvPr/>
        </p:nvSpPr>
        <p:spPr>
          <a:xfrm>
            <a:off x="3780653" y="2995986"/>
            <a:ext cx="4630726" cy="400049"/>
          </a:xfrm>
          <a:prstGeom prst="rect">
            <a:avLst/>
          </a:prstGeom>
          <a:noFill/>
        </p:spPr>
        <p:txBody>
          <a:bodyPr wrap="none" lIns="0" rIns="0" tIns="0" bIns="0" anchor="ctr">
            <a:noAutofit/>
          </a:bodyPr>
          <a:lstStyle/>
          <a:p>
            <a:pPr algn="ctr">
              <a:lnSpc>
                <a:spcPts val="3120"/>
              </a:lnSpc>
            </a:pPr>
            <a:r>
              <a:rPr sz="2600" b="0" i="1">
                <a:solidFill>
                  <a:srgbClr val="8A6A1C"/>
                </a:solidFill>
                <a:latin typeface="Cormorant Garamond"/>
              </a:rPr>
              <a:t>Indication-driven. Biologically rational.</a:t>
            </a:r>
          </a:p>
        </p:txBody>
      </p:sp>
      <p:sp>
        <p:nvSpPr>
          <p:cNvPr id="6" name="TextBox 5"/>
          <p:cNvSpPr txBox="1"/>
          <p:nvPr/>
        </p:nvSpPr>
        <p:spPr>
          <a:xfrm>
            <a:off x="3158037" y="3853234"/>
            <a:ext cx="5875894" cy="266699"/>
          </a:xfrm>
          <a:prstGeom prst="rect">
            <a:avLst/>
          </a:prstGeom>
          <a:noFill/>
        </p:spPr>
        <p:txBody>
          <a:bodyPr wrap="none" lIns="0" rIns="0" tIns="0" bIns="0" anchor="ctr">
            <a:noAutofit/>
          </a:bodyPr>
          <a:lstStyle/>
          <a:p>
            <a:pPr algn="ctr">
              <a:lnSpc>
                <a:spcPts val="2039"/>
              </a:lnSpc>
            </a:pPr>
            <a:r>
              <a:rPr sz="1700" b="1" i="0" spc="442">
                <a:solidFill>
                  <a:srgbClr val="2E2B26"/>
                </a:solidFill>
                <a:latin typeface="Montserrat"/>
              </a:rPr>
              <a:t>DR. NADEEN KABBOURA</a:t>
            </a:r>
          </a:p>
        </p:txBody>
      </p:sp>
      <p:sp>
        <p:nvSpPr>
          <p:cNvPr id="7" name="TextBox 6"/>
          <p:cNvSpPr txBox="1"/>
          <p:nvPr/>
        </p:nvSpPr>
        <p:spPr>
          <a:xfrm>
            <a:off x="3158037" y="4221533"/>
            <a:ext cx="5875894" cy="203199"/>
          </a:xfrm>
          <a:prstGeom prst="rect">
            <a:avLst/>
          </a:prstGeom>
          <a:noFill/>
        </p:spPr>
        <p:txBody>
          <a:bodyPr wrap="none" lIns="0" rIns="0" tIns="0" bIns="0" anchor="ctr">
            <a:noAutofit/>
          </a:bodyPr>
          <a:lstStyle/>
          <a:p>
            <a:pPr algn="ctr">
              <a:lnSpc>
                <a:spcPts val="1560"/>
              </a:lnSpc>
            </a:pPr>
            <a:r>
              <a:rPr sz="1300" b="0" i="0" spc="78">
                <a:solidFill>
                  <a:srgbClr val="7C7365"/>
                </a:solidFill>
                <a:latin typeface="Montserrat"/>
              </a:rPr>
              <a:t>Obstetrics &amp; Gynaecology · Aesthetic and Regenerative Medicine</a:t>
            </a:r>
          </a:p>
        </p:txBody>
      </p:sp>
      <p:sp>
        <p:nvSpPr>
          <p:cNvPr id="8" name="TextBox 7"/>
          <p:cNvSpPr txBox="1"/>
          <p:nvPr/>
        </p:nvSpPr>
        <p:spPr>
          <a:xfrm>
            <a:off x="0" y="6311884"/>
            <a:ext cx="12191969" cy="215899"/>
          </a:xfrm>
          <a:prstGeom prst="rect">
            <a:avLst/>
          </a:prstGeom>
          <a:noFill/>
        </p:spPr>
        <p:txBody>
          <a:bodyPr wrap="none" lIns="0" rIns="0" tIns="0" bIns="0" anchor="ctr">
            <a:noAutofit/>
          </a:bodyPr>
          <a:lstStyle/>
          <a:p>
            <a:pPr algn="ctr">
              <a:lnSpc>
                <a:spcPts val="1680"/>
              </a:lnSpc>
            </a:pPr>
            <a:r>
              <a:rPr sz="1400" b="0" i="0" spc="280">
                <a:solidFill>
                  <a:srgbClr val="6B6053"/>
                </a:solidFill>
                <a:latin typeface="Montserrat"/>
              </a:rPr>
              <a:t>CONFERENCE · SESSION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cxnSp>
        <p:nvCxnSpPr>
          <p:cNvPr id="2" name="Connector 1"/>
          <p:cNvCxnSpPr/>
          <p:nvPr/>
        </p:nvCxnSpPr>
        <p:spPr>
          <a:xfrm>
            <a:off x="812798" y="5994385"/>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pic>
        <p:nvPicPr>
          <p:cNvPr id="3" name="Picture 2" descr="s02-0.png"/>
          <p:cNvPicPr>
            <a:picLocks noChangeAspect="1"/>
          </p:cNvPicPr>
          <p:nvPr/>
        </p:nvPicPr>
        <p:blipFill>
          <a:blip r:embed="rId2"/>
          <a:stretch>
            <a:fillRect/>
          </a:stretch>
        </p:blipFill>
        <p:spPr>
          <a:xfrm>
            <a:off x="812798" y="3123176"/>
            <a:ext cx="10566373" cy="2222494"/>
          </a:xfrm>
          <a:prstGeom prst="rect">
            <a:avLst/>
          </a:prstGeom>
        </p:spPr>
      </p:pic>
      <p:sp>
        <p:nvSpPr>
          <p:cNvPr id="4" name="TextBox 3"/>
          <p:cNvSpPr txBox="1"/>
          <p:nvPr/>
        </p:nvSpPr>
        <p:spPr>
          <a:xfrm>
            <a:off x="812798" y="558799"/>
            <a:ext cx="10566373" cy="203199"/>
          </a:xfrm>
          <a:prstGeom prst="rect">
            <a:avLst/>
          </a:prstGeom>
          <a:noFill/>
        </p:spPr>
        <p:txBody>
          <a:bodyPr wrap="none" lIns="0" rIns="0" tIns="0" bIns="0" anchor="ctr">
            <a:noAutofit/>
          </a:bodyPr>
          <a:lstStyle/>
          <a:p>
            <a:pPr algn="l">
              <a:lnSpc>
                <a:spcPts val="1560"/>
              </a:lnSpc>
            </a:pPr>
            <a:r>
              <a:rPr sz="1300" b="1" i="0" spc="416">
                <a:solidFill>
                  <a:srgbClr val="8A6A1C"/>
                </a:solidFill>
                <a:latin typeface="Montserrat"/>
              </a:rPr>
              <a:t>THE CLINICAL PREMISE</a:t>
            </a:r>
          </a:p>
        </p:txBody>
      </p:sp>
      <p:sp>
        <p:nvSpPr>
          <p:cNvPr id="5" name="TextBox 4"/>
          <p:cNvSpPr txBox="1"/>
          <p:nvPr/>
        </p:nvSpPr>
        <p:spPr>
          <a:xfrm>
            <a:off x="1272664" y="1512185"/>
            <a:ext cx="9646514" cy="945576"/>
          </a:xfrm>
          <a:prstGeom prst="rect">
            <a:avLst/>
          </a:prstGeom>
          <a:noFill/>
        </p:spPr>
        <p:txBody>
          <a:bodyPr wrap="none" lIns="0" rIns="0" tIns="0" bIns="0" anchor="ctr">
            <a:noAutofit/>
          </a:bodyPr>
          <a:lstStyle/>
          <a:p>
            <a:pPr algn="ctr">
              <a:lnSpc>
                <a:spcPts val="7445"/>
              </a:lnSpc>
            </a:pPr>
            <a:r>
              <a:rPr sz="7300" b="1" i="0">
                <a:solidFill>
                  <a:srgbClr val="2E2B26"/>
                </a:solidFill>
                <a:latin typeface="Cormorant Garamond"/>
              </a:rPr>
              <a:t>Variation is not pathology.</a:t>
            </a:r>
          </a:p>
        </p:txBody>
      </p:sp>
      <p:sp>
        <p:nvSpPr>
          <p:cNvPr id="6" name="TextBox 5"/>
          <p:cNvSpPr txBox="1"/>
          <p:nvPr/>
        </p:nvSpPr>
        <p:spPr>
          <a:xfrm>
            <a:off x="3942578" y="2622861"/>
            <a:ext cx="4306877" cy="411479"/>
          </a:xfrm>
          <a:prstGeom prst="rect">
            <a:avLst/>
          </a:prstGeom>
          <a:noFill/>
        </p:spPr>
        <p:txBody>
          <a:bodyPr wrap="none" lIns="0" rIns="0" tIns="0" bIns="0" anchor="ctr">
            <a:noAutofit/>
          </a:bodyPr>
          <a:lstStyle/>
          <a:p>
            <a:pPr algn="ctr">
              <a:lnSpc>
                <a:spcPts val="3240"/>
              </a:lnSpc>
            </a:pPr>
            <a:r>
              <a:rPr sz="2700" b="0" i="1">
                <a:solidFill>
                  <a:srgbClr val="8A6A1C"/>
                </a:solidFill>
                <a:latin typeface="Cormorant Garamond"/>
              </a:rPr>
              <a:t>Treat indication — not expectation.</a:t>
            </a:r>
          </a:p>
        </p:txBody>
      </p:sp>
      <p:sp>
        <p:nvSpPr>
          <p:cNvPr id="7" name="TextBox 6"/>
          <p:cNvSpPr txBox="1"/>
          <p:nvPr/>
        </p:nvSpPr>
        <p:spPr>
          <a:xfrm>
            <a:off x="812798" y="6178534"/>
            <a:ext cx="7513618" cy="184150"/>
          </a:xfrm>
          <a:prstGeom prst="rect">
            <a:avLst/>
          </a:prstGeom>
          <a:noFill/>
        </p:spPr>
        <p:txBody>
          <a:bodyPr wrap="none" lIns="0" rIns="0" tIns="0" bIns="0" anchor="ctr">
            <a:noAutofit/>
          </a:bodyPr>
          <a:lstStyle/>
          <a:p>
            <a:pPr algn="l">
              <a:lnSpc>
                <a:spcPts val="1439"/>
              </a:lnSpc>
            </a:pPr>
            <a:r>
              <a:rPr sz="1200" b="0" i="0" spc="18">
                <a:solidFill>
                  <a:srgbClr val="7C7365"/>
                </a:solidFill>
                <a:latin typeface="Montserrat"/>
              </a:rPr>
              <a:t>Lloyd et al. </a:t>
            </a:r>
            <a:r>
              <a:rPr sz="1200" b="0" i="0" spc="18">
                <a:solidFill>
                  <a:srgbClr val="7C7365"/>
                </a:solidFill>
                <a:latin typeface="Montserrat"/>
              </a:rPr>
              <a:t>BJOG</a:t>
            </a:r>
            <a:r>
              <a:rPr sz="1200" b="0" i="0" spc="18">
                <a:solidFill>
                  <a:srgbClr val="7C7365"/>
                </a:solidFill>
                <a:latin typeface="Montserrat"/>
              </a:rPr>
              <a:t> 2005;112:643–6 · ACOG Committee Opinion 795, 2020</a:t>
            </a:r>
          </a:p>
        </p:txBody>
      </p:sp>
      <p:sp>
        <p:nvSpPr>
          <p:cNvPr id="8" name="TextBox 7"/>
          <p:cNvSpPr txBox="1"/>
          <p:nvPr/>
        </p:nvSpPr>
        <p:spPr>
          <a:xfrm>
            <a:off x="8669315" y="6184884"/>
            <a:ext cx="2210620" cy="171450"/>
          </a:xfrm>
          <a:prstGeom prst="rect">
            <a:avLst/>
          </a:prstGeom>
          <a:noFill/>
        </p:spPr>
        <p:txBody>
          <a:bodyPr wrap="none" lIns="0" rIns="0" tIns="0" bIns="0" anchor="ctr">
            <a:noAutofit/>
          </a:bodyPr>
          <a:lstStyle/>
          <a:p>
            <a:pPr algn="l">
              <a:lnSpc>
                <a:spcPts val="1260"/>
              </a:lnSpc>
            </a:pPr>
            <a:r>
              <a:rPr sz="1050" b="1" i="0" spc="189">
                <a:solidFill>
                  <a:srgbClr val="8A6A1C"/>
                </a:solidFill>
                <a:latin typeface="Montserrat"/>
              </a:rPr>
              <a:t>ESTABLISHED EVIDENCE</a:t>
            </a:r>
          </a:p>
        </p:txBody>
      </p:sp>
      <p:sp>
        <p:nvSpPr>
          <p:cNvPr id="9" name="TextBox 8"/>
          <p:cNvSpPr txBox="1"/>
          <p:nvPr/>
        </p:nvSpPr>
        <p:spPr>
          <a:xfrm>
            <a:off x="11222834" y="6162659"/>
            <a:ext cx="156400" cy="215899"/>
          </a:xfrm>
          <a:prstGeom prst="rect">
            <a:avLst/>
          </a:prstGeom>
          <a:noFill/>
        </p:spPr>
        <p:txBody>
          <a:bodyPr wrap="none" lIns="0" rIns="0" tIns="0" bIns="0" anchor="ctr">
            <a:noAutofit/>
          </a:bodyPr>
          <a:lstStyle/>
          <a:p>
            <a:pPr algn="l">
              <a:lnSpc>
                <a:spcPts val="1680"/>
              </a:lnSpc>
            </a:pPr>
            <a:r>
              <a:rPr sz="1400" b="0" i="0">
                <a:solidFill>
                  <a:srgbClr val="7C7365"/>
                </a:solidFill>
                <a:latin typeface="Cormorant Garamond"/>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Rectangle 1"/>
          <p:cNvSpPr/>
          <p:nvPr/>
        </p:nvSpPr>
        <p:spPr>
          <a:xfrm>
            <a:off x="812798" y="1628898"/>
            <a:ext cx="609598" cy="6350"/>
          </a:xfrm>
          <a:prstGeom prst="rect">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3" name="Connector 2"/>
          <p:cNvCxnSpPr/>
          <p:nvPr/>
        </p:nvCxnSpPr>
        <p:spPr>
          <a:xfrm>
            <a:off x="812798" y="5994385"/>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pic>
        <p:nvPicPr>
          <p:cNvPr id="4" name="Picture 3" descr="s03-0.png"/>
          <p:cNvPicPr>
            <a:picLocks noChangeAspect="1"/>
          </p:cNvPicPr>
          <p:nvPr/>
        </p:nvPicPr>
        <p:blipFill>
          <a:blip r:embed="rId2"/>
          <a:stretch>
            <a:fillRect/>
          </a:stretch>
        </p:blipFill>
        <p:spPr>
          <a:xfrm>
            <a:off x="812798" y="1863847"/>
            <a:ext cx="7238982" cy="4003538"/>
          </a:xfrm>
          <a:prstGeom prst="rect">
            <a:avLst/>
          </a:prstGeom>
        </p:spPr>
      </p:pic>
      <p:sp>
        <p:nvSpPr>
          <p:cNvPr id="5" name="TextBox 4"/>
          <p:cNvSpPr txBox="1"/>
          <p:nvPr/>
        </p:nvSpPr>
        <p:spPr>
          <a:xfrm>
            <a:off x="812798" y="558799"/>
            <a:ext cx="10566373" cy="203199"/>
          </a:xfrm>
          <a:prstGeom prst="rect">
            <a:avLst/>
          </a:prstGeom>
          <a:noFill/>
        </p:spPr>
        <p:txBody>
          <a:bodyPr wrap="none" lIns="0" rIns="0" tIns="0" bIns="0" anchor="ctr">
            <a:noAutofit/>
          </a:bodyPr>
          <a:lstStyle/>
          <a:p>
            <a:pPr algn="l">
              <a:lnSpc>
                <a:spcPts val="1560"/>
              </a:lnSpc>
            </a:pPr>
            <a:r>
              <a:rPr sz="1300" b="1" i="0" spc="416">
                <a:solidFill>
                  <a:srgbClr val="8A6A1C"/>
                </a:solidFill>
                <a:latin typeface="Montserrat"/>
              </a:rPr>
              <a:t>TISSUE-SPECIFIC ANATOMY</a:t>
            </a:r>
          </a:p>
        </p:txBody>
      </p:sp>
      <p:sp>
        <p:nvSpPr>
          <p:cNvPr id="6" name="TextBox 5"/>
          <p:cNvSpPr txBox="1"/>
          <p:nvPr/>
        </p:nvSpPr>
        <p:spPr>
          <a:xfrm>
            <a:off x="812798" y="888998"/>
            <a:ext cx="10566373" cy="549401"/>
          </a:xfrm>
          <a:prstGeom prst="rect">
            <a:avLst/>
          </a:prstGeom>
          <a:noFill/>
        </p:spPr>
        <p:txBody>
          <a:bodyPr wrap="none" lIns="0" rIns="0" tIns="0" bIns="0" anchor="ctr">
            <a:noAutofit/>
          </a:bodyPr>
          <a:lstStyle/>
          <a:p>
            <a:pPr algn="l">
              <a:lnSpc>
                <a:spcPts val="4326"/>
              </a:lnSpc>
            </a:pPr>
            <a:r>
              <a:rPr sz="4200" b="1" i="0" spc="17">
                <a:solidFill>
                  <a:srgbClr val="2E2B26"/>
                </a:solidFill>
                <a:latin typeface="Cormorant Garamond"/>
              </a:rPr>
              <a:t>One region. Distinct tissue biology.</a:t>
            </a:r>
          </a:p>
        </p:txBody>
      </p:sp>
      <p:sp>
        <p:nvSpPr>
          <p:cNvPr id="7" name="TextBox 6"/>
          <p:cNvSpPr txBox="1"/>
          <p:nvPr/>
        </p:nvSpPr>
        <p:spPr>
          <a:xfrm>
            <a:off x="3184644" y="3288339"/>
            <a:ext cx="316547" cy="65151"/>
          </a:xfrm>
          <a:prstGeom prst="rect">
            <a:avLst/>
          </a:prstGeom>
          <a:noFill/>
        </p:spPr>
        <p:txBody>
          <a:bodyPr wrap="none" lIns="0" rIns="0" tIns="0" bIns="0" anchor="ctr">
            <a:noAutofit/>
          </a:bodyPr>
          <a:lstStyle/>
          <a:p>
            <a:pPr algn="l">
              <a:lnSpc>
                <a:spcPts val="3240"/>
              </a:lnSpc>
            </a:pPr>
          </a:p>
        </p:txBody>
      </p:sp>
      <p:sp>
        <p:nvSpPr>
          <p:cNvPr id="8" name="TextBox 7"/>
          <p:cNvSpPr txBox="1"/>
          <p:nvPr/>
        </p:nvSpPr>
        <p:spPr>
          <a:xfrm>
            <a:off x="3184644" y="3995981"/>
            <a:ext cx="819338" cy="102425"/>
          </a:xfrm>
          <a:prstGeom prst="rect">
            <a:avLst/>
          </a:prstGeom>
          <a:noFill/>
        </p:spPr>
        <p:txBody>
          <a:bodyPr wrap="none" lIns="0" rIns="0" tIns="0" bIns="0" anchor="ctr">
            <a:noAutofit/>
          </a:bodyPr>
          <a:lstStyle/>
          <a:p>
            <a:pPr algn="l">
              <a:lnSpc>
                <a:spcPts val="3240"/>
              </a:lnSpc>
            </a:pPr>
          </a:p>
        </p:txBody>
      </p:sp>
      <p:sp>
        <p:nvSpPr>
          <p:cNvPr id="9" name="TextBox 8"/>
          <p:cNvSpPr txBox="1"/>
          <p:nvPr/>
        </p:nvSpPr>
        <p:spPr>
          <a:xfrm>
            <a:off x="3184644" y="5327382"/>
            <a:ext cx="1173160" cy="148971"/>
          </a:xfrm>
          <a:prstGeom prst="rect">
            <a:avLst/>
          </a:prstGeom>
          <a:noFill/>
        </p:spPr>
        <p:txBody>
          <a:bodyPr wrap="none" lIns="0" rIns="0" tIns="0" bIns="0" anchor="ctr">
            <a:noAutofit/>
          </a:bodyPr>
          <a:lstStyle/>
          <a:p>
            <a:pPr algn="l">
              <a:lnSpc>
                <a:spcPts val="3240"/>
              </a:lnSpc>
            </a:pPr>
          </a:p>
        </p:txBody>
      </p:sp>
      <p:sp>
        <p:nvSpPr>
          <p:cNvPr id="10" name="TextBox 9"/>
          <p:cNvSpPr txBox="1"/>
          <p:nvPr/>
        </p:nvSpPr>
        <p:spPr>
          <a:xfrm>
            <a:off x="4553319" y="2729731"/>
            <a:ext cx="1126614" cy="55880"/>
          </a:xfrm>
          <a:prstGeom prst="rect">
            <a:avLst/>
          </a:prstGeom>
          <a:noFill/>
        </p:spPr>
        <p:txBody>
          <a:bodyPr wrap="none" lIns="0" rIns="0" tIns="0" bIns="0" anchor="ctr">
            <a:noAutofit/>
          </a:bodyPr>
          <a:lstStyle/>
          <a:p>
            <a:pPr algn="l">
              <a:lnSpc>
                <a:spcPts val="3240"/>
              </a:lnSpc>
            </a:pPr>
          </a:p>
        </p:txBody>
      </p:sp>
      <p:sp>
        <p:nvSpPr>
          <p:cNvPr id="11" name="TextBox 10"/>
          <p:cNvSpPr txBox="1"/>
          <p:nvPr/>
        </p:nvSpPr>
        <p:spPr>
          <a:xfrm>
            <a:off x="4460229" y="3316279"/>
            <a:ext cx="1219705" cy="46545"/>
          </a:xfrm>
          <a:prstGeom prst="rect">
            <a:avLst/>
          </a:prstGeom>
          <a:noFill/>
        </p:spPr>
        <p:txBody>
          <a:bodyPr wrap="none" lIns="0" rIns="0" tIns="0" bIns="0" anchor="ctr">
            <a:noAutofit/>
          </a:bodyPr>
          <a:lstStyle/>
          <a:p>
            <a:pPr algn="l">
              <a:lnSpc>
                <a:spcPts val="3240"/>
              </a:lnSpc>
            </a:pPr>
          </a:p>
        </p:txBody>
      </p:sp>
      <p:sp>
        <p:nvSpPr>
          <p:cNvPr id="12" name="TextBox 11"/>
          <p:cNvSpPr txBox="1"/>
          <p:nvPr/>
        </p:nvSpPr>
        <p:spPr>
          <a:xfrm>
            <a:off x="4497440" y="4480104"/>
            <a:ext cx="1182430" cy="270001"/>
          </a:xfrm>
          <a:prstGeom prst="rect">
            <a:avLst/>
          </a:prstGeom>
          <a:noFill/>
        </p:spPr>
        <p:txBody>
          <a:bodyPr wrap="none" lIns="0" rIns="0" tIns="0" bIns="0" anchor="ctr">
            <a:noAutofit/>
          </a:bodyPr>
          <a:lstStyle/>
          <a:p>
            <a:pPr algn="l">
              <a:lnSpc>
                <a:spcPts val="3240"/>
              </a:lnSpc>
            </a:pPr>
          </a:p>
        </p:txBody>
      </p:sp>
      <p:sp>
        <p:nvSpPr>
          <p:cNvPr id="13" name="TextBox 12"/>
          <p:cNvSpPr txBox="1"/>
          <p:nvPr/>
        </p:nvSpPr>
        <p:spPr>
          <a:xfrm>
            <a:off x="4562654" y="3968041"/>
            <a:ext cx="1117280" cy="102425"/>
          </a:xfrm>
          <a:prstGeom prst="rect">
            <a:avLst/>
          </a:prstGeom>
          <a:noFill/>
        </p:spPr>
        <p:txBody>
          <a:bodyPr wrap="none" lIns="0" rIns="0" tIns="0" bIns="0" anchor="ctr">
            <a:noAutofit/>
          </a:bodyPr>
          <a:lstStyle/>
          <a:p>
            <a:pPr algn="l">
              <a:lnSpc>
                <a:spcPts val="3240"/>
              </a:lnSpc>
            </a:pPr>
          </a:p>
        </p:txBody>
      </p:sp>
      <p:sp>
        <p:nvSpPr>
          <p:cNvPr id="14" name="TextBox 13"/>
          <p:cNvSpPr txBox="1"/>
          <p:nvPr/>
        </p:nvSpPr>
        <p:spPr>
          <a:xfrm>
            <a:off x="8604228" y="2597651"/>
            <a:ext cx="2806693" cy="1064765"/>
          </a:xfrm>
          <a:prstGeom prst="rect">
            <a:avLst/>
          </a:prstGeom>
          <a:noFill/>
        </p:spPr>
        <p:txBody>
          <a:bodyPr wrap="square" lIns="0" rIns="0" tIns="0" bIns="0" anchor="t">
            <a:noAutofit/>
          </a:bodyPr>
          <a:lstStyle/>
          <a:p>
            <a:pPr algn="l">
              <a:lnSpc>
                <a:spcPts val="2795"/>
              </a:lnSpc>
            </a:pPr>
            <a:r>
              <a:rPr sz="2150" b="0" i="0">
                <a:solidFill>
                  <a:srgbClr val="453F35"/>
                </a:solidFill>
                <a:latin typeface="Montserrat"/>
              </a:rPr>
              <a:t>Keratinised skin </a:t>
            </a:r>
            <a:r>
              <a:rPr sz="2150" b="1" i="0">
                <a:solidFill>
                  <a:srgbClr val="8A6A1C"/>
                </a:solidFill>
                <a:latin typeface="Montserrat"/>
              </a:rPr>
              <a:t>laterally</a:t>
            </a:r>
          </a:p>
        </p:txBody>
      </p:sp>
      <p:sp>
        <p:nvSpPr>
          <p:cNvPr id="15" name="TextBox 14"/>
          <p:cNvSpPr txBox="1"/>
          <p:nvPr/>
        </p:nvSpPr>
        <p:spPr>
          <a:xfrm>
            <a:off x="8604228" y="3510652"/>
            <a:ext cx="2806693" cy="1064765"/>
          </a:xfrm>
          <a:prstGeom prst="rect">
            <a:avLst/>
          </a:prstGeom>
          <a:noFill/>
        </p:spPr>
        <p:txBody>
          <a:bodyPr wrap="square" lIns="0" rIns="0" tIns="0" bIns="0" anchor="t">
            <a:noAutofit/>
          </a:bodyPr>
          <a:lstStyle/>
          <a:p>
            <a:pPr algn="l">
              <a:lnSpc>
                <a:spcPts val="2795"/>
              </a:lnSpc>
            </a:pPr>
            <a:r>
              <a:rPr sz="2150" b="0" i="0">
                <a:solidFill>
                  <a:srgbClr val="453F35"/>
                </a:solidFill>
                <a:latin typeface="Montserrat"/>
              </a:rPr>
              <a:t>Non-keratinised mucosa </a:t>
            </a:r>
            <a:r>
              <a:rPr sz="2150" b="1" i="0">
                <a:solidFill>
                  <a:srgbClr val="8A6A1C"/>
                </a:solidFill>
                <a:latin typeface="Montserrat"/>
              </a:rPr>
              <a:t>medially</a:t>
            </a:r>
          </a:p>
        </p:txBody>
      </p:sp>
      <p:sp>
        <p:nvSpPr>
          <p:cNvPr id="16" name="TextBox 15"/>
          <p:cNvSpPr txBox="1"/>
          <p:nvPr/>
        </p:nvSpPr>
        <p:spPr>
          <a:xfrm>
            <a:off x="8604228" y="4423653"/>
            <a:ext cx="2806693" cy="1064765"/>
          </a:xfrm>
          <a:prstGeom prst="rect">
            <a:avLst/>
          </a:prstGeom>
          <a:noFill/>
        </p:spPr>
        <p:txBody>
          <a:bodyPr wrap="square" lIns="0" rIns="0" tIns="0" bIns="0" anchor="t">
            <a:noAutofit/>
          </a:bodyPr>
          <a:lstStyle/>
          <a:p>
            <a:pPr algn="l">
              <a:lnSpc>
                <a:spcPts val="2795"/>
              </a:lnSpc>
            </a:pPr>
            <a:r>
              <a:rPr sz="2150" b="1" i="0">
                <a:solidFill>
                  <a:srgbClr val="8A6A1C"/>
                </a:solidFill>
                <a:latin typeface="Montserrat"/>
              </a:rPr>
              <a:t>Hart’s line</a:t>
            </a:r>
            <a:r>
              <a:rPr sz="2150" b="0" i="0">
                <a:solidFill>
                  <a:srgbClr val="453F35"/>
                </a:solidFill>
                <a:latin typeface="Montserrat"/>
              </a:rPr>
              <a:t> is the boundary</a:t>
            </a:r>
          </a:p>
        </p:txBody>
      </p:sp>
      <p:sp>
        <p:nvSpPr>
          <p:cNvPr id="17" name="TextBox 16"/>
          <p:cNvSpPr txBox="1"/>
          <p:nvPr/>
        </p:nvSpPr>
        <p:spPr>
          <a:xfrm>
            <a:off x="812798" y="6178534"/>
            <a:ext cx="7516031" cy="184150"/>
          </a:xfrm>
          <a:prstGeom prst="rect">
            <a:avLst/>
          </a:prstGeom>
          <a:noFill/>
        </p:spPr>
        <p:txBody>
          <a:bodyPr wrap="none" lIns="0" rIns="0" tIns="0" bIns="0" anchor="ctr">
            <a:noAutofit/>
          </a:bodyPr>
          <a:lstStyle/>
          <a:p>
            <a:pPr algn="l">
              <a:lnSpc>
                <a:spcPts val="1439"/>
              </a:lnSpc>
            </a:pPr>
            <a:r>
              <a:rPr sz="1200" b="0" i="0" spc="18">
                <a:solidFill>
                  <a:srgbClr val="7C7365"/>
                </a:solidFill>
                <a:latin typeface="Montserrat"/>
              </a:rPr>
              <a:t>Yeung &amp; Pauls, </a:t>
            </a:r>
            <a:r>
              <a:rPr sz="1200" b="0" i="0" spc="18">
                <a:solidFill>
                  <a:srgbClr val="7C7365"/>
                </a:solidFill>
                <a:latin typeface="Montserrat"/>
              </a:rPr>
              <a:t>Obstet Gynecol Clin North Am</a:t>
            </a:r>
            <a:r>
              <a:rPr sz="1200" b="0" i="0" spc="18">
                <a:solidFill>
                  <a:srgbClr val="7C7365"/>
                </a:solidFill>
                <a:latin typeface="Montserrat"/>
              </a:rPr>
              <a:t> 2016;43:27–44</a:t>
            </a:r>
          </a:p>
        </p:txBody>
      </p:sp>
      <p:sp>
        <p:nvSpPr>
          <p:cNvPr id="18" name="TextBox 17"/>
          <p:cNvSpPr txBox="1"/>
          <p:nvPr/>
        </p:nvSpPr>
        <p:spPr>
          <a:xfrm>
            <a:off x="8671728" y="6184884"/>
            <a:ext cx="2210620" cy="171450"/>
          </a:xfrm>
          <a:prstGeom prst="rect">
            <a:avLst/>
          </a:prstGeom>
          <a:noFill/>
        </p:spPr>
        <p:txBody>
          <a:bodyPr wrap="none" lIns="0" rIns="0" tIns="0" bIns="0" anchor="ctr">
            <a:noAutofit/>
          </a:bodyPr>
          <a:lstStyle/>
          <a:p>
            <a:pPr algn="l">
              <a:lnSpc>
                <a:spcPts val="1260"/>
              </a:lnSpc>
            </a:pPr>
            <a:r>
              <a:rPr sz="1050" b="1" i="0" spc="189">
                <a:solidFill>
                  <a:srgbClr val="8A6A1C"/>
                </a:solidFill>
                <a:latin typeface="Montserrat"/>
              </a:rPr>
              <a:t>ESTABLISHED EVIDENCE</a:t>
            </a:r>
          </a:p>
        </p:txBody>
      </p:sp>
      <p:sp>
        <p:nvSpPr>
          <p:cNvPr id="19" name="TextBox 18"/>
          <p:cNvSpPr txBox="1"/>
          <p:nvPr/>
        </p:nvSpPr>
        <p:spPr>
          <a:xfrm>
            <a:off x="11225184" y="6162659"/>
            <a:ext cx="153987" cy="215899"/>
          </a:xfrm>
          <a:prstGeom prst="rect">
            <a:avLst/>
          </a:prstGeom>
          <a:noFill/>
        </p:spPr>
        <p:txBody>
          <a:bodyPr wrap="none" lIns="0" rIns="0" tIns="0" bIns="0" anchor="ctr">
            <a:noAutofit/>
          </a:bodyPr>
          <a:lstStyle/>
          <a:p>
            <a:pPr algn="l">
              <a:lnSpc>
                <a:spcPts val="1680"/>
              </a:lnSpc>
            </a:pPr>
            <a:r>
              <a:rPr sz="1400" b="0" i="0">
                <a:solidFill>
                  <a:srgbClr val="7C7365"/>
                </a:solidFill>
                <a:latin typeface="Cormorant Garamond"/>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Rectangle 1"/>
          <p:cNvSpPr/>
          <p:nvPr/>
        </p:nvSpPr>
        <p:spPr>
          <a:xfrm>
            <a:off x="812798" y="1628898"/>
            <a:ext cx="609598" cy="6350"/>
          </a:xfrm>
          <a:prstGeom prst="rect">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3" name="Connector 2"/>
          <p:cNvCxnSpPr/>
          <p:nvPr/>
        </p:nvCxnSpPr>
        <p:spPr>
          <a:xfrm>
            <a:off x="812798" y="5911835"/>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pic>
        <p:nvPicPr>
          <p:cNvPr id="4" name="Picture 3" descr="s04-0.png"/>
          <p:cNvPicPr>
            <a:picLocks noChangeAspect="1"/>
          </p:cNvPicPr>
          <p:nvPr/>
        </p:nvPicPr>
        <p:blipFill>
          <a:blip r:embed="rId2"/>
          <a:stretch>
            <a:fillRect/>
          </a:stretch>
        </p:blipFill>
        <p:spPr>
          <a:xfrm>
            <a:off x="812798" y="1863847"/>
            <a:ext cx="10566373" cy="3489189"/>
          </a:xfrm>
          <a:prstGeom prst="rect">
            <a:avLst/>
          </a:prstGeom>
        </p:spPr>
      </p:pic>
      <p:sp>
        <p:nvSpPr>
          <p:cNvPr id="5" name="TextBox 4"/>
          <p:cNvSpPr txBox="1"/>
          <p:nvPr/>
        </p:nvSpPr>
        <p:spPr>
          <a:xfrm>
            <a:off x="812798" y="558799"/>
            <a:ext cx="10566373" cy="203199"/>
          </a:xfrm>
          <a:prstGeom prst="rect">
            <a:avLst/>
          </a:prstGeom>
          <a:noFill/>
        </p:spPr>
        <p:txBody>
          <a:bodyPr wrap="none" lIns="0" rIns="0" tIns="0" bIns="0" anchor="ctr">
            <a:noAutofit/>
          </a:bodyPr>
          <a:lstStyle/>
          <a:p>
            <a:pPr algn="l">
              <a:lnSpc>
                <a:spcPts val="1560"/>
              </a:lnSpc>
            </a:pPr>
            <a:r>
              <a:rPr sz="1300" b="1" i="0" spc="416">
                <a:solidFill>
                  <a:srgbClr val="8A6A1C"/>
                </a:solidFill>
                <a:latin typeface="Montserrat"/>
              </a:rPr>
              <a:t>THE CUTANEOUS–MUCOSAL INTERFACE</a:t>
            </a:r>
          </a:p>
        </p:txBody>
      </p:sp>
      <p:sp>
        <p:nvSpPr>
          <p:cNvPr id="6" name="TextBox 5"/>
          <p:cNvSpPr txBox="1"/>
          <p:nvPr/>
        </p:nvSpPr>
        <p:spPr>
          <a:xfrm>
            <a:off x="812798" y="888998"/>
            <a:ext cx="10566373" cy="549401"/>
          </a:xfrm>
          <a:prstGeom prst="rect">
            <a:avLst/>
          </a:prstGeom>
          <a:noFill/>
        </p:spPr>
        <p:txBody>
          <a:bodyPr wrap="none" lIns="0" rIns="0" tIns="0" bIns="0" anchor="ctr">
            <a:noAutofit/>
          </a:bodyPr>
          <a:lstStyle/>
          <a:p>
            <a:pPr algn="l">
              <a:lnSpc>
                <a:spcPts val="4326"/>
              </a:lnSpc>
            </a:pPr>
            <a:r>
              <a:rPr sz="4200" b="1" i="0" spc="17">
                <a:solidFill>
                  <a:srgbClr val="8A6A1C"/>
                </a:solidFill>
                <a:latin typeface="Cormorant Garamond"/>
              </a:rPr>
              <a:t>Mucosa ≠ facial skin</a:t>
            </a:r>
          </a:p>
        </p:txBody>
      </p:sp>
      <p:sp>
        <p:nvSpPr>
          <p:cNvPr id="7" name="TextBox 6"/>
          <p:cNvSpPr txBox="1"/>
          <p:nvPr/>
        </p:nvSpPr>
        <p:spPr>
          <a:xfrm>
            <a:off x="958721" y="5518136"/>
            <a:ext cx="10274464" cy="266699"/>
          </a:xfrm>
          <a:prstGeom prst="rect">
            <a:avLst/>
          </a:prstGeom>
          <a:noFill/>
        </p:spPr>
        <p:txBody>
          <a:bodyPr wrap="none" lIns="0" rIns="0" tIns="0" bIns="0" anchor="ctr">
            <a:noAutofit/>
          </a:bodyPr>
          <a:lstStyle/>
          <a:p>
            <a:pPr algn="l">
              <a:lnSpc>
                <a:spcPts val="2039"/>
              </a:lnSpc>
            </a:pPr>
            <a:r>
              <a:rPr sz="1700" b="0" i="0" spc="34">
                <a:solidFill>
                  <a:srgbClr val="7C7365"/>
                </a:solidFill>
                <a:latin typeface="Montserrat"/>
              </a:rPr>
              <a:t>No stratum corneum · no adnexa · percutaneous absorption several-fold higher than forearm</a:t>
            </a:r>
          </a:p>
        </p:txBody>
      </p:sp>
      <p:sp>
        <p:nvSpPr>
          <p:cNvPr id="8" name="TextBox 7"/>
          <p:cNvSpPr txBox="1"/>
          <p:nvPr/>
        </p:nvSpPr>
        <p:spPr>
          <a:xfrm>
            <a:off x="781048" y="6045185"/>
            <a:ext cx="7568482" cy="551179"/>
          </a:xfrm>
          <a:prstGeom prst="rect">
            <a:avLst/>
          </a:prstGeom>
          <a:noFill/>
        </p:spPr>
        <p:txBody>
          <a:bodyPr wrap="square" lIns="0" rIns="0" tIns="0" bIns="0" anchor="t">
            <a:noAutofit/>
          </a:bodyPr>
          <a:lstStyle/>
          <a:p>
            <a:pPr algn="l">
              <a:lnSpc>
                <a:spcPts val="1439"/>
              </a:lnSpc>
            </a:pPr>
            <a:r>
              <a:rPr sz="1200" b="0" i="0" spc="18">
                <a:solidFill>
                  <a:srgbClr val="7C7365"/>
                </a:solidFill>
                <a:latin typeface="Montserrat"/>
              </a:rPr>
              <a:t>Oriba, Bucks &amp; Maibach, </a:t>
            </a:r>
            <a:r>
              <a:rPr sz="1200" b="0" i="0" spc="18">
                <a:solidFill>
                  <a:srgbClr val="7C7365"/>
                </a:solidFill>
                <a:latin typeface="Montserrat"/>
              </a:rPr>
              <a:t>Br J Dermatol</a:t>
            </a:r>
            <a:r>
              <a:rPr sz="1200" b="0" i="0" spc="18">
                <a:solidFill>
                  <a:srgbClr val="7C7365"/>
                </a:solidFill>
                <a:latin typeface="Montserrat"/>
              </a:rPr>
              <a:t> 1996;134:229–33 · Farage &amp; Maibach, </a:t>
            </a:r>
            <a:r>
              <a:rPr sz="1200" b="0" i="0" spc="18">
                <a:solidFill>
                  <a:srgbClr val="7C7365"/>
                </a:solidFill>
                <a:latin typeface="Montserrat"/>
              </a:rPr>
              <a:t>Arch Gynecol Obstet</a:t>
            </a:r>
            <a:r>
              <a:rPr sz="1200" b="0" i="0" spc="18">
                <a:solidFill>
                  <a:srgbClr val="7C7365"/>
                </a:solidFill>
                <a:latin typeface="Montserrat"/>
              </a:rPr>
              <a:t> 2006;273:195–202</a:t>
            </a:r>
          </a:p>
        </p:txBody>
      </p:sp>
      <p:sp>
        <p:nvSpPr>
          <p:cNvPr id="9" name="TextBox 8"/>
          <p:cNvSpPr txBox="1"/>
          <p:nvPr/>
        </p:nvSpPr>
        <p:spPr>
          <a:xfrm>
            <a:off x="8660679" y="6143609"/>
            <a:ext cx="2210620" cy="171450"/>
          </a:xfrm>
          <a:prstGeom prst="rect">
            <a:avLst/>
          </a:prstGeom>
          <a:noFill/>
        </p:spPr>
        <p:txBody>
          <a:bodyPr wrap="none" lIns="0" rIns="0" tIns="0" bIns="0" anchor="ctr">
            <a:noAutofit/>
          </a:bodyPr>
          <a:lstStyle/>
          <a:p>
            <a:pPr algn="l">
              <a:lnSpc>
                <a:spcPts val="1260"/>
              </a:lnSpc>
            </a:pPr>
            <a:r>
              <a:rPr sz="1050" b="1" i="0" spc="189">
                <a:solidFill>
                  <a:srgbClr val="8A6A1C"/>
                </a:solidFill>
                <a:latin typeface="Montserrat"/>
              </a:rPr>
              <a:t>ESTABLISHED EVIDENCE</a:t>
            </a:r>
          </a:p>
        </p:txBody>
      </p:sp>
      <p:sp>
        <p:nvSpPr>
          <p:cNvPr id="10" name="TextBox 9"/>
          <p:cNvSpPr txBox="1"/>
          <p:nvPr/>
        </p:nvSpPr>
        <p:spPr>
          <a:xfrm>
            <a:off x="11214198" y="6121384"/>
            <a:ext cx="164973" cy="215899"/>
          </a:xfrm>
          <a:prstGeom prst="rect">
            <a:avLst/>
          </a:prstGeom>
          <a:noFill/>
        </p:spPr>
        <p:txBody>
          <a:bodyPr wrap="none" lIns="0" rIns="0" tIns="0" bIns="0" anchor="ctr">
            <a:noAutofit/>
          </a:bodyPr>
          <a:lstStyle/>
          <a:p>
            <a:pPr algn="l">
              <a:lnSpc>
                <a:spcPts val="1680"/>
              </a:lnSpc>
            </a:pPr>
            <a:r>
              <a:rPr sz="1400" b="0" i="0">
                <a:solidFill>
                  <a:srgbClr val="7C7365"/>
                </a:solidFill>
                <a:latin typeface="Cormorant Garamond"/>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cxnSp>
        <p:nvCxnSpPr>
          <p:cNvPr id="2" name="Connector 1"/>
          <p:cNvCxnSpPr/>
          <p:nvPr/>
        </p:nvCxnSpPr>
        <p:spPr>
          <a:xfrm>
            <a:off x="812798" y="5994385"/>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pic>
        <p:nvPicPr>
          <p:cNvPr id="3" name="Picture 2" descr="s05-0.png"/>
          <p:cNvPicPr>
            <a:picLocks noChangeAspect="1"/>
          </p:cNvPicPr>
          <p:nvPr/>
        </p:nvPicPr>
        <p:blipFill>
          <a:blip r:embed="rId2"/>
          <a:stretch>
            <a:fillRect/>
          </a:stretch>
        </p:blipFill>
        <p:spPr>
          <a:xfrm>
            <a:off x="812798" y="1666998"/>
            <a:ext cx="7238982" cy="4200387"/>
          </a:xfrm>
          <a:prstGeom prst="rect">
            <a:avLst/>
          </a:prstGeom>
        </p:spPr>
      </p:pic>
      <p:sp>
        <p:nvSpPr>
          <p:cNvPr id="4" name="TextBox 3"/>
          <p:cNvSpPr txBox="1"/>
          <p:nvPr/>
        </p:nvSpPr>
        <p:spPr>
          <a:xfrm>
            <a:off x="812798" y="558799"/>
            <a:ext cx="10566373" cy="203199"/>
          </a:xfrm>
          <a:prstGeom prst="rect">
            <a:avLst/>
          </a:prstGeom>
          <a:noFill/>
        </p:spPr>
        <p:txBody>
          <a:bodyPr wrap="none" lIns="0" rIns="0" tIns="0" bIns="0" anchor="ctr">
            <a:noAutofit/>
          </a:bodyPr>
          <a:lstStyle/>
          <a:p>
            <a:pPr algn="l">
              <a:lnSpc>
                <a:spcPts val="1560"/>
              </a:lnSpc>
            </a:pPr>
            <a:r>
              <a:rPr sz="1300" b="1" i="0" spc="416">
                <a:solidFill>
                  <a:srgbClr val="8A6A1C"/>
                </a:solidFill>
                <a:latin typeface="Montserrat"/>
              </a:rPr>
              <a:t>MECHANISM</a:t>
            </a:r>
          </a:p>
        </p:txBody>
      </p:sp>
      <p:sp>
        <p:nvSpPr>
          <p:cNvPr id="5" name="TextBox 4"/>
          <p:cNvSpPr txBox="1"/>
          <p:nvPr/>
        </p:nvSpPr>
        <p:spPr>
          <a:xfrm>
            <a:off x="812798" y="888998"/>
            <a:ext cx="10566373" cy="549401"/>
          </a:xfrm>
          <a:prstGeom prst="rect">
            <a:avLst/>
          </a:prstGeom>
          <a:noFill/>
        </p:spPr>
        <p:txBody>
          <a:bodyPr wrap="none" lIns="0" rIns="0" tIns="0" bIns="0" anchor="ctr">
            <a:noAutofit/>
          </a:bodyPr>
          <a:lstStyle/>
          <a:p>
            <a:pPr algn="l">
              <a:lnSpc>
                <a:spcPts val="4326"/>
              </a:lnSpc>
            </a:pPr>
            <a:r>
              <a:rPr sz="4200" b="1" i="0" spc="17">
                <a:solidFill>
                  <a:srgbClr val="2E2B26"/>
                </a:solidFill>
                <a:latin typeface="Cormorant Garamond"/>
              </a:rPr>
              <a:t>The inflammation–pigment cycle</a:t>
            </a:r>
          </a:p>
        </p:txBody>
      </p:sp>
      <p:sp>
        <p:nvSpPr>
          <p:cNvPr id="6" name="TextBox 5"/>
          <p:cNvSpPr txBox="1"/>
          <p:nvPr/>
        </p:nvSpPr>
        <p:spPr>
          <a:xfrm>
            <a:off x="8426429" y="2471858"/>
            <a:ext cx="2984492" cy="1234373"/>
          </a:xfrm>
          <a:prstGeom prst="rect">
            <a:avLst/>
          </a:prstGeom>
          <a:noFill/>
        </p:spPr>
        <p:txBody>
          <a:bodyPr wrap="square" lIns="0" rIns="0" tIns="0" bIns="0" anchor="t">
            <a:noAutofit/>
          </a:bodyPr>
          <a:lstStyle/>
          <a:p>
            <a:pPr algn="l">
              <a:lnSpc>
                <a:spcPts val="3240"/>
              </a:lnSpc>
            </a:pPr>
            <a:r>
              <a:rPr sz="2700" b="0" i="1">
                <a:solidFill>
                  <a:srgbClr val="8A6A1C"/>
                </a:solidFill>
                <a:latin typeface="Cormorant Garamond"/>
              </a:rPr>
              <a:t>Escalation feeds</a:t>
            </a:r>
          </a:p>
          <a:p>
            <a:pPr algn="l">
              <a:lnSpc>
                <a:spcPts val="3240"/>
              </a:lnSpc>
            </a:pPr>
            <a:r>
              <a:rPr sz="2700" b="0" i="1">
                <a:solidFill>
                  <a:srgbClr val="8A6A1C"/>
                </a:solidFill>
                <a:latin typeface="Cormorant Garamond"/>
              </a:rPr>
              <a:t>the cycle.</a:t>
            </a:r>
          </a:p>
        </p:txBody>
      </p:sp>
      <p:sp>
        <p:nvSpPr>
          <p:cNvPr id="7" name="TextBox 6"/>
          <p:cNvSpPr txBox="1"/>
          <p:nvPr/>
        </p:nvSpPr>
        <p:spPr>
          <a:xfrm>
            <a:off x="8426429" y="3497952"/>
            <a:ext cx="2984492" cy="1955668"/>
          </a:xfrm>
          <a:prstGeom prst="rect">
            <a:avLst/>
          </a:prstGeom>
          <a:noFill/>
        </p:spPr>
        <p:txBody>
          <a:bodyPr wrap="square" lIns="0" rIns="0" tIns="0" bIns="0" anchor="t">
            <a:noAutofit/>
          </a:bodyPr>
          <a:lstStyle/>
          <a:p>
            <a:pPr algn="l">
              <a:lnSpc>
                <a:spcPts val="3080"/>
              </a:lnSpc>
            </a:pPr>
            <a:r>
              <a:rPr sz="2200" b="0" i="0">
                <a:solidFill>
                  <a:srgbClr val="453F35"/>
                </a:solidFill>
                <a:latin typeface="Montserrat"/>
              </a:rPr>
              <a:t>Correct the driver first. Pigment is the readout, not the disease.</a:t>
            </a:r>
          </a:p>
        </p:txBody>
      </p:sp>
      <p:sp>
        <p:nvSpPr>
          <p:cNvPr id="8" name="TextBox 7"/>
          <p:cNvSpPr txBox="1"/>
          <p:nvPr/>
        </p:nvSpPr>
        <p:spPr>
          <a:xfrm>
            <a:off x="812798" y="6178534"/>
            <a:ext cx="5281599" cy="184150"/>
          </a:xfrm>
          <a:prstGeom prst="rect">
            <a:avLst/>
          </a:prstGeom>
          <a:noFill/>
        </p:spPr>
        <p:txBody>
          <a:bodyPr wrap="none" lIns="0" rIns="0" tIns="0" bIns="0" anchor="ctr">
            <a:noAutofit/>
          </a:bodyPr>
          <a:lstStyle/>
          <a:p>
            <a:pPr algn="l">
              <a:lnSpc>
                <a:spcPts val="1439"/>
              </a:lnSpc>
            </a:pPr>
            <a:r>
              <a:rPr sz="1200" b="0" i="0" spc="18">
                <a:solidFill>
                  <a:srgbClr val="7C7365"/>
                </a:solidFill>
                <a:latin typeface="Montserrat"/>
              </a:rPr>
              <a:t>Davis &amp; Callender, </a:t>
            </a:r>
            <a:r>
              <a:rPr sz="1200" b="0" i="0" spc="18">
                <a:solidFill>
                  <a:srgbClr val="7C7365"/>
                </a:solidFill>
                <a:latin typeface="Montserrat"/>
              </a:rPr>
              <a:t>J Clin Aesthet Dermatol</a:t>
            </a:r>
            <a:r>
              <a:rPr sz="1200" b="0" i="0" spc="18">
                <a:solidFill>
                  <a:srgbClr val="7C7365"/>
                </a:solidFill>
                <a:latin typeface="Montserrat"/>
              </a:rPr>
              <a:t> 2010;3(7):20–31</a:t>
            </a:r>
          </a:p>
        </p:txBody>
      </p:sp>
      <p:sp>
        <p:nvSpPr>
          <p:cNvPr id="9" name="TextBox 8"/>
          <p:cNvSpPr txBox="1"/>
          <p:nvPr/>
        </p:nvSpPr>
        <p:spPr>
          <a:xfrm>
            <a:off x="6437296" y="6184884"/>
            <a:ext cx="4441433" cy="171450"/>
          </a:xfrm>
          <a:prstGeom prst="rect">
            <a:avLst/>
          </a:prstGeom>
          <a:noFill/>
        </p:spPr>
        <p:txBody>
          <a:bodyPr wrap="none" lIns="0" rIns="0" tIns="0" bIns="0" anchor="ctr">
            <a:noAutofit/>
          </a:bodyPr>
          <a:lstStyle/>
          <a:p>
            <a:pPr algn="l">
              <a:lnSpc>
                <a:spcPts val="1260"/>
              </a:lnSpc>
            </a:pPr>
            <a:r>
              <a:rPr sz="1050" b="1" i="0" spc="189">
                <a:solidFill>
                  <a:srgbClr val="8A6A1C"/>
                </a:solidFill>
                <a:latin typeface="Montserrat"/>
              </a:rPr>
              <a:t>MECHANISM ESTABLISHED · SITE EXTRAPOLATED</a:t>
            </a:r>
          </a:p>
        </p:txBody>
      </p:sp>
      <p:sp>
        <p:nvSpPr>
          <p:cNvPr id="10" name="TextBox 9"/>
          <p:cNvSpPr txBox="1"/>
          <p:nvPr/>
        </p:nvSpPr>
        <p:spPr>
          <a:xfrm>
            <a:off x="11221628" y="6162659"/>
            <a:ext cx="157543" cy="215899"/>
          </a:xfrm>
          <a:prstGeom prst="rect">
            <a:avLst/>
          </a:prstGeom>
          <a:noFill/>
        </p:spPr>
        <p:txBody>
          <a:bodyPr wrap="none" lIns="0" rIns="0" tIns="0" bIns="0" anchor="ctr">
            <a:noAutofit/>
          </a:bodyPr>
          <a:lstStyle/>
          <a:p>
            <a:pPr algn="l">
              <a:lnSpc>
                <a:spcPts val="1680"/>
              </a:lnSpc>
            </a:pPr>
            <a:r>
              <a:rPr sz="1400" b="0" i="0">
                <a:solidFill>
                  <a:srgbClr val="7C7365"/>
                </a:solidFill>
                <a:latin typeface="Cormorant Garamond"/>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Rectangle 1"/>
          <p:cNvSpPr/>
          <p:nvPr/>
        </p:nvSpPr>
        <p:spPr>
          <a:xfrm>
            <a:off x="812798" y="1628898"/>
            <a:ext cx="609598" cy="6350"/>
          </a:xfrm>
          <a:prstGeom prst="rect">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ounded Rectangle 2"/>
          <p:cNvSpPr/>
          <p:nvPr/>
        </p:nvSpPr>
        <p:spPr>
          <a:xfrm>
            <a:off x="3848408" y="1997578"/>
            <a:ext cx="4495090" cy="774698"/>
          </a:xfrm>
          <a:prstGeom prst="roundRect">
            <a:avLst>
              <a:gd name="adj" fmla="val 11475"/>
            </a:avLst>
          </a:prstGeom>
          <a:solidFill>
            <a:srgbClr val="F5EFE3"/>
          </a:solidFill>
          <a:ln w="6350">
            <a:solidFill>
              <a:srgbClr val="C6A24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4" name="Connector 3"/>
          <p:cNvCxnSpPr/>
          <p:nvPr/>
        </p:nvCxnSpPr>
        <p:spPr>
          <a:xfrm>
            <a:off x="812798" y="5994385"/>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pic>
        <p:nvPicPr>
          <p:cNvPr id="5" name="Picture 4" descr="s06-0.png"/>
          <p:cNvPicPr>
            <a:picLocks noChangeAspect="1"/>
          </p:cNvPicPr>
          <p:nvPr/>
        </p:nvPicPr>
        <p:blipFill>
          <a:blip r:embed="rId2"/>
          <a:stretch>
            <a:fillRect/>
          </a:stretch>
        </p:blipFill>
        <p:spPr>
          <a:xfrm>
            <a:off x="812798" y="2772276"/>
            <a:ext cx="10566373" cy="393699"/>
          </a:xfrm>
          <a:prstGeom prst="rect">
            <a:avLst/>
          </a:prstGeom>
        </p:spPr>
      </p:pic>
      <p:sp>
        <p:nvSpPr>
          <p:cNvPr id="6" name="TextBox 5"/>
          <p:cNvSpPr txBox="1"/>
          <p:nvPr/>
        </p:nvSpPr>
        <p:spPr>
          <a:xfrm>
            <a:off x="812798" y="558799"/>
            <a:ext cx="10566373" cy="203199"/>
          </a:xfrm>
          <a:prstGeom prst="rect">
            <a:avLst/>
          </a:prstGeom>
          <a:noFill/>
        </p:spPr>
        <p:txBody>
          <a:bodyPr wrap="none" lIns="0" rIns="0" tIns="0" bIns="0" anchor="ctr">
            <a:noAutofit/>
          </a:bodyPr>
          <a:lstStyle/>
          <a:p>
            <a:pPr algn="l">
              <a:lnSpc>
                <a:spcPts val="1560"/>
              </a:lnSpc>
            </a:pPr>
            <a:r>
              <a:rPr sz="1300" b="1" i="0" spc="416">
                <a:solidFill>
                  <a:srgbClr val="8A6A1C"/>
                </a:solidFill>
                <a:latin typeface="Montserrat"/>
              </a:rPr>
              <a:t>ASSESSMENT</a:t>
            </a:r>
          </a:p>
        </p:txBody>
      </p:sp>
      <p:sp>
        <p:nvSpPr>
          <p:cNvPr id="7" name="TextBox 6"/>
          <p:cNvSpPr txBox="1"/>
          <p:nvPr/>
        </p:nvSpPr>
        <p:spPr>
          <a:xfrm>
            <a:off x="812798" y="888998"/>
            <a:ext cx="10566373" cy="549401"/>
          </a:xfrm>
          <a:prstGeom prst="rect">
            <a:avLst/>
          </a:prstGeom>
          <a:noFill/>
        </p:spPr>
        <p:txBody>
          <a:bodyPr wrap="none" lIns="0" rIns="0" tIns="0" bIns="0" anchor="ctr">
            <a:noAutofit/>
          </a:bodyPr>
          <a:lstStyle/>
          <a:p>
            <a:pPr algn="l">
              <a:lnSpc>
                <a:spcPts val="4326"/>
              </a:lnSpc>
            </a:pPr>
            <a:r>
              <a:rPr sz="4200" b="1" i="0" spc="17">
                <a:solidFill>
                  <a:srgbClr val="2E2B26"/>
                </a:solidFill>
                <a:latin typeface="Cormorant Garamond"/>
              </a:rPr>
              <a:t>Assess before you treat</a:t>
            </a:r>
          </a:p>
        </p:txBody>
      </p:sp>
      <p:sp>
        <p:nvSpPr>
          <p:cNvPr id="8" name="TextBox 7"/>
          <p:cNvSpPr txBox="1"/>
          <p:nvPr/>
        </p:nvSpPr>
        <p:spPr>
          <a:xfrm>
            <a:off x="4191307" y="2099178"/>
            <a:ext cx="3809292" cy="571499"/>
          </a:xfrm>
          <a:prstGeom prst="rect">
            <a:avLst/>
          </a:prstGeom>
          <a:noFill/>
        </p:spPr>
        <p:txBody>
          <a:bodyPr wrap="none" lIns="0" rIns="0" tIns="0" bIns="0" anchor="ctr">
            <a:noAutofit/>
          </a:bodyPr>
          <a:lstStyle/>
          <a:p>
            <a:pPr algn="l">
              <a:lnSpc>
                <a:spcPts val="4320"/>
              </a:lnSpc>
            </a:pPr>
            <a:r>
              <a:rPr sz="3600" b="1" i="0">
                <a:solidFill>
                  <a:srgbClr val="8A6A1C"/>
                </a:solidFill>
                <a:latin typeface="Cormorant Garamond"/>
              </a:rPr>
              <a:t>Is pathology present?</a:t>
            </a:r>
          </a:p>
        </p:txBody>
      </p:sp>
      <p:sp>
        <p:nvSpPr>
          <p:cNvPr id="9" name="TextBox 8"/>
          <p:cNvSpPr txBox="1"/>
          <p:nvPr/>
        </p:nvSpPr>
        <p:spPr>
          <a:xfrm>
            <a:off x="812798" y="3165975"/>
            <a:ext cx="5029187" cy="215899"/>
          </a:xfrm>
          <a:prstGeom prst="rect">
            <a:avLst/>
          </a:prstGeom>
          <a:noFill/>
        </p:spPr>
        <p:txBody>
          <a:bodyPr wrap="none" lIns="0" rIns="0" tIns="0" bIns="0" anchor="ctr">
            <a:noAutofit/>
          </a:bodyPr>
          <a:lstStyle/>
          <a:p>
            <a:pPr algn="l">
              <a:lnSpc>
                <a:spcPts val="1680"/>
              </a:lnSpc>
            </a:pPr>
            <a:r>
              <a:rPr sz="1400" b="1" i="0" spc="336">
                <a:solidFill>
                  <a:srgbClr val="6E2639"/>
                </a:solidFill>
                <a:latin typeface="Montserrat"/>
              </a:rPr>
              <a:t>YES</a:t>
            </a:r>
          </a:p>
        </p:txBody>
      </p:sp>
      <p:sp>
        <p:nvSpPr>
          <p:cNvPr id="10" name="TextBox 9"/>
          <p:cNvSpPr txBox="1"/>
          <p:nvPr/>
        </p:nvSpPr>
        <p:spPr>
          <a:xfrm>
            <a:off x="812798" y="3445374"/>
            <a:ext cx="5029187" cy="400049"/>
          </a:xfrm>
          <a:prstGeom prst="rect">
            <a:avLst/>
          </a:prstGeom>
          <a:noFill/>
        </p:spPr>
        <p:txBody>
          <a:bodyPr wrap="none" lIns="0" rIns="0" tIns="0" bIns="0" anchor="ctr">
            <a:noAutofit/>
          </a:bodyPr>
          <a:lstStyle/>
          <a:p>
            <a:pPr algn="l">
              <a:lnSpc>
                <a:spcPts val="3120"/>
              </a:lnSpc>
            </a:pPr>
            <a:r>
              <a:rPr sz="2600" b="1" i="0">
                <a:solidFill>
                  <a:srgbClr val="2E2B26"/>
                </a:solidFill>
                <a:latin typeface="Cormorant Garamond"/>
              </a:rPr>
              <a:t>Biopsy or treat the disease</a:t>
            </a:r>
          </a:p>
        </p:txBody>
      </p:sp>
      <p:sp>
        <p:nvSpPr>
          <p:cNvPr id="11" name="TextBox 10"/>
          <p:cNvSpPr txBox="1"/>
          <p:nvPr/>
        </p:nvSpPr>
        <p:spPr>
          <a:xfrm>
            <a:off x="812798" y="3972423"/>
            <a:ext cx="5029187" cy="352234"/>
          </a:xfrm>
          <a:prstGeom prst="rect">
            <a:avLst/>
          </a:prstGeom>
          <a:noFill/>
        </p:spPr>
        <p:txBody>
          <a:bodyPr wrap="none" lIns="0" rIns="0" tIns="0" bIns="0" anchor="ctr">
            <a:noAutofit/>
          </a:bodyPr>
          <a:lstStyle/>
          <a:p>
            <a:pPr algn="l">
              <a:lnSpc>
                <a:spcPts val="2774"/>
              </a:lnSpc>
            </a:pPr>
            <a:r>
              <a:rPr sz="1900" b="0" i="0">
                <a:solidFill>
                  <a:srgbClr val="6E2639"/>
                </a:solidFill>
                <a:latin typeface="Montserrat"/>
              </a:rPr>
              <a:t>—  </a:t>
            </a:r>
            <a:r>
              <a:rPr sz="1900" b="0" i="0">
                <a:solidFill>
                  <a:srgbClr val="453F35"/>
                </a:solidFill>
                <a:latin typeface="Montserrat"/>
              </a:rPr>
              <a:t>Lichen sclerosus</a:t>
            </a:r>
          </a:p>
        </p:txBody>
      </p:sp>
      <p:sp>
        <p:nvSpPr>
          <p:cNvPr id="12" name="TextBox 11"/>
          <p:cNvSpPr txBox="1"/>
          <p:nvPr/>
        </p:nvSpPr>
        <p:spPr>
          <a:xfrm>
            <a:off x="812798" y="4324657"/>
            <a:ext cx="5029187" cy="352234"/>
          </a:xfrm>
          <a:prstGeom prst="rect">
            <a:avLst/>
          </a:prstGeom>
          <a:noFill/>
        </p:spPr>
        <p:txBody>
          <a:bodyPr wrap="none" lIns="0" rIns="0" tIns="0" bIns="0" anchor="ctr">
            <a:noAutofit/>
          </a:bodyPr>
          <a:lstStyle/>
          <a:p>
            <a:pPr algn="l">
              <a:lnSpc>
                <a:spcPts val="2774"/>
              </a:lnSpc>
            </a:pPr>
            <a:r>
              <a:rPr sz="1900" b="0" i="0">
                <a:solidFill>
                  <a:srgbClr val="6E2639"/>
                </a:solidFill>
                <a:latin typeface="Montserrat"/>
              </a:rPr>
              <a:t>—  </a:t>
            </a:r>
            <a:r>
              <a:rPr sz="1900" b="0" i="0">
                <a:solidFill>
                  <a:srgbClr val="453F35"/>
                </a:solidFill>
                <a:latin typeface="Montserrat"/>
              </a:rPr>
              <a:t>Differentiated VIN</a:t>
            </a:r>
          </a:p>
        </p:txBody>
      </p:sp>
      <p:sp>
        <p:nvSpPr>
          <p:cNvPr id="13" name="TextBox 12"/>
          <p:cNvSpPr txBox="1"/>
          <p:nvPr/>
        </p:nvSpPr>
        <p:spPr>
          <a:xfrm>
            <a:off x="812798" y="4676890"/>
            <a:ext cx="5029187" cy="352234"/>
          </a:xfrm>
          <a:prstGeom prst="rect">
            <a:avLst/>
          </a:prstGeom>
          <a:noFill/>
        </p:spPr>
        <p:txBody>
          <a:bodyPr wrap="none" lIns="0" rIns="0" tIns="0" bIns="0" anchor="ctr">
            <a:noAutofit/>
          </a:bodyPr>
          <a:lstStyle/>
          <a:p>
            <a:pPr algn="l">
              <a:lnSpc>
                <a:spcPts val="2774"/>
              </a:lnSpc>
            </a:pPr>
            <a:r>
              <a:rPr sz="1900" b="0" i="0">
                <a:solidFill>
                  <a:srgbClr val="6E2639"/>
                </a:solidFill>
                <a:latin typeface="Montserrat"/>
              </a:rPr>
              <a:t>—  </a:t>
            </a:r>
            <a:r>
              <a:rPr sz="1900" b="0" i="0">
                <a:solidFill>
                  <a:srgbClr val="453F35"/>
                </a:solidFill>
                <a:latin typeface="Montserrat"/>
              </a:rPr>
              <a:t>Vulvar melanoma</a:t>
            </a:r>
          </a:p>
        </p:txBody>
      </p:sp>
      <p:sp>
        <p:nvSpPr>
          <p:cNvPr id="14" name="TextBox 13"/>
          <p:cNvSpPr txBox="1"/>
          <p:nvPr/>
        </p:nvSpPr>
        <p:spPr>
          <a:xfrm>
            <a:off x="812798" y="5029060"/>
            <a:ext cx="5029187" cy="352234"/>
          </a:xfrm>
          <a:prstGeom prst="rect">
            <a:avLst/>
          </a:prstGeom>
          <a:noFill/>
        </p:spPr>
        <p:txBody>
          <a:bodyPr wrap="none" lIns="0" rIns="0" tIns="0" bIns="0" anchor="ctr">
            <a:noAutofit/>
          </a:bodyPr>
          <a:lstStyle/>
          <a:p>
            <a:pPr algn="l">
              <a:lnSpc>
                <a:spcPts val="2774"/>
              </a:lnSpc>
            </a:pPr>
            <a:r>
              <a:rPr sz="1900" b="0" i="0">
                <a:solidFill>
                  <a:srgbClr val="6E2639"/>
                </a:solidFill>
                <a:latin typeface="Montserrat"/>
              </a:rPr>
              <a:t>—  </a:t>
            </a:r>
            <a:r>
              <a:rPr sz="1900" b="0" i="0">
                <a:solidFill>
                  <a:srgbClr val="453F35"/>
                </a:solidFill>
                <a:latin typeface="Montserrat"/>
              </a:rPr>
              <a:t>Infection or dermatosis</a:t>
            </a:r>
          </a:p>
        </p:txBody>
      </p:sp>
      <p:sp>
        <p:nvSpPr>
          <p:cNvPr id="15" name="TextBox 14"/>
          <p:cNvSpPr txBox="1"/>
          <p:nvPr/>
        </p:nvSpPr>
        <p:spPr>
          <a:xfrm>
            <a:off x="6349984" y="3165975"/>
            <a:ext cx="5029187" cy="215899"/>
          </a:xfrm>
          <a:prstGeom prst="rect">
            <a:avLst/>
          </a:prstGeom>
          <a:noFill/>
        </p:spPr>
        <p:txBody>
          <a:bodyPr wrap="none" lIns="0" rIns="0" tIns="0" bIns="0" anchor="ctr">
            <a:noAutofit/>
          </a:bodyPr>
          <a:lstStyle/>
          <a:p>
            <a:pPr algn="l">
              <a:lnSpc>
                <a:spcPts val="1680"/>
              </a:lnSpc>
            </a:pPr>
            <a:r>
              <a:rPr sz="1400" b="1" i="0" spc="336">
                <a:solidFill>
                  <a:srgbClr val="8A6A1C"/>
                </a:solidFill>
                <a:latin typeface="Montserrat"/>
              </a:rPr>
              <a:t>NO</a:t>
            </a:r>
          </a:p>
        </p:txBody>
      </p:sp>
      <p:sp>
        <p:nvSpPr>
          <p:cNvPr id="16" name="TextBox 15"/>
          <p:cNvSpPr txBox="1"/>
          <p:nvPr/>
        </p:nvSpPr>
        <p:spPr>
          <a:xfrm>
            <a:off x="6349984" y="3445374"/>
            <a:ext cx="5029187" cy="400049"/>
          </a:xfrm>
          <a:prstGeom prst="rect">
            <a:avLst/>
          </a:prstGeom>
          <a:noFill/>
        </p:spPr>
        <p:txBody>
          <a:bodyPr wrap="none" lIns="0" rIns="0" tIns="0" bIns="0" anchor="ctr">
            <a:noAutofit/>
          </a:bodyPr>
          <a:lstStyle/>
          <a:p>
            <a:pPr algn="l">
              <a:lnSpc>
                <a:spcPts val="3120"/>
              </a:lnSpc>
            </a:pPr>
            <a:r>
              <a:rPr sz="2600" b="1" i="0">
                <a:solidFill>
                  <a:srgbClr val="2E2B26"/>
                </a:solidFill>
                <a:latin typeface="Cormorant Garamond"/>
              </a:rPr>
              <a:t>Identify the driver</a:t>
            </a:r>
          </a:p>
        </p:txBody>
      </p:sp>
      <p:sp>
        <p:nvSpPr>
          <p:cNvPr id="17" name="TextBox 16"/>
          <p:cNvSpPr txBox="1"/>
          <p:nvPr/>
        </p:nvSpPr>
        <p:spPr>
          <a:xfrm>
            <a:off x="6349984" y="3972423"/>
            <a:ext cx="5029187" cy="352234"/>
          </a:xfrm>
          <a:prstGeom prst="rect">
            <a:avLst/>
          </a:prstGeom>
          <a:noFill/>
        </p:spPr>
        <p:txBody>
          <a:bodyPr wrap="none" lIns="0" rIns="0" tIns="0" bIns="0" anchor="ctr">
            <a:noAutofit/>
          </a:bodyPr>
          <a:lstStyle/>
          <a:p>
            <a:pPr algn="l">
              <a:lnSpc>
                <a:spcPts val="2774"/>
              </a:lnSpc>
            </a:pPr>
            <a:r>
              <a:rPr sz="1900" b="0" i="0">
                <a:solidFill>
                  <a:srgbClr val="C6A24E"/>
                </a:solidFill>
                <a:latin typeface="Montserrat"/>
              </a:rPr>
              <a:t>—  </a:t>
            </a:r>
            <a:r>
              <a:rPr sz="1900" b="0" i="0">
                <a:solidFill>
                  <a:srgbClr val="453F35"/>
                </a:solidFill>
                <a:latin typeface="Montserrat"/>
              </a:rPr>
              <a:t>Physiological variation</a:t>
            </a:r>
          </a:p>
        </p:txBody>
      </p:sp>
      <p:sp>
        <p:nvSpPr>
          <p:cNvPr id="18" name="TextBox 17"/>
          <p:cNvSpPr txBox="1"/>
          <p:nvPr/>
        </p:nvSpPr>
        <p:spPr>
          <a:xfrm>
            <a:off x="6349984" y="4324657"/>
            <a:ext cx="5029187" cy="352234"/>
          </a:xfrm>
          <a:prstGeom prst="rect">
            <a:avLst/>
          </a:prstGeom>
          <a:noFill/>
        </p:spPr>
        <p:txBody>
          <a:bodyPr wrap="none" lIns="0" rIns="0" tIns="0" bIns="0" anchor="ctr">
            <a:noAutofit/>
          </a:bodyPr>
          <a:lstStyle/>
          <a:p>
            <a:pPr algn="l">
              <a:lnSpc>
                <a:spcPts val="2774"/>
              </a:lnSpc>
            </a:pPr>
            <a:r>
              <a:rPr sz="1900" b="0" i="0">
                <a:solidFill>
                  <a:srgbClr val="C6A24E"/>
                </a:solidFill>
                <a:latin typeface="Montserrat"/>
              </a:rPr>
              <a:t>—  </a:t>
            </a:r>
            <a:r>
              <a:rPr sz="1900" b="0" i="0">
                <a:solidFill>
                  <a:srgbClr val="453F35"/>
                </a:solidFill>
                <a:latin typeface="Montserrat"/>
              </a:rPr>
              <a:t>Friction or mechanical trauma</a:t>
            </a:r>
          </a:p>
        </p:txBody>
      </p:sp>
      <p:sp>
        <p:nvSpPr>
          <p:cNvPr id="19" name="TextBox 18"/>
          <p:cNvSpPr txBox="1"/>
          <p:nvPr/>
        </p:nvSpPr>
        <p:spPr>
          <a:xfrm>
            <a:off x="6349984" y="4676890"/>
            <a:ext cx="5029187" cy="352234"/>
          </a:xfrm>
          <a:prstGeom prst="rect">
            <a:avLst/>
          </a:prstGeom>
          <a:noFill/>
        </p:spPr>
        <p:txBody>
          <a:bodyPr wrap="none" lIns="0" rIns="0" tIns="0" bIns="0" anchor="ctr">
            <a:noAutofit/>
          </a:bodyPr>
          <a:lstStyle/>
          <a:p>
            <a:pPr algn="l">
              <a:lnSpc>
                <a:spcPts val="2774"/>
              </a:lnSpc>
            </a:pPr>
            <a:r>
              <a:rPr sz="1900" b="0" i="0">
                <a:solidFill>
                  <a:srgbClr val="C6A24E"/>
                </a:solidFill>
                <a:latin typeface="Montserrat"/>
              </a:rPr>
              <a:t>—  </a:t>
            </a:r>
            <a:r>
              <a:rPr sz="1900" b="0" i="0">
                <a:solidFill>
                  <a:srgbClr val="453F35"/>
                </a:solidFill>
                <a:latin typeface="Montserrat"/>
              </a:rPr>
              <a:t>Post-inflammatory pigment</a:t>
            </a:r>
          </a:p>
        </p:txBody>
      </p:sp>
      <p:sp>
        <p:nvSpPr>
          <p:cNvPr id="20" name="TextBox 19"/>
          <p:cNvSpPr txBox="1"/>
          <p:nvPr/>
        </p:nvSpPr>
        <p:spPr>
          <a:xfrm>
            <a:off x="6349984" y="5029060"/>
            <a:ext cx="5029187" cy="352234"/>
          </a:xfrm>
          <a:prstGeom prst="rect">
            <a:avLst/>
          </a:prstGeom>
          <a:noFill/>
        </p:spPr>
        <p:txBody>
          <a:bodyPr wrap="none" lIns="0" rIns="0" tIns="0" bIns="0" anchor="ctr">
            <a:noAutofit/>
          </a:bodyPr>
          <a:lstStyle/>
          <a:p>
            <a:pPr algn="l">
              <a:lnSpc>
                <a:spcPts val="2774"/>
              </a:lnSpc>
            </a:pPr>
            <a:r>
              <a:rPr sz="1900" b="0" i="0">
                <a:solidFill>
                  <a:srgbClr val="C6A24E"/>
                </a:solidFill>
                <a:latin typeface="Montserrat"/>
              </a:rPr>
              <a:t>—  </a:t>
            </a:r>
            <a:r>
              <a:rPr sz="1900" b="0" i="0">
                <a:solidFill>
                  <a:srgbClr val="453F35"/>
                </a:solidFill>
                <a:latin typeface="Montserrat"/>
              </a:rPr>
              <a:t>Hormonal influence</a:t>
            </a:r>
          </a:p>
        </p:txBody>
      </p:sp>
      <p:sp>
        <p:nvSpPr>
          <p:cNvPr id="21" name="TextBox 20"/>
          <p:cNvSpPr txBox="1"/>
          <p:nvPr/>
        </p:nvSpPr>
        <p:spPr>
          <a:xfrm>
            <a:off x="6349984" y="5381294"/>
            <a:ext cx="5029187" cy="352234"/>
          </a:xfrm>
          <a:prstGeom prst="rect">
            <a:avLst/>
          </a:prstGeom>
          <a:noFill/>
        </p:spPr>
        <p:txBody>
          <a:bodyPr wrap="none" lIns="0" rIns="0" tIns="0" bIns="0" anchor="ctr">
            <a:noAutofit/>
          </a:bodyPr>
          <a:lstStyle/>
          <a:p>
            <a:pPr algn="l">
              <a:lnSpc>
                <a:spcPts val="2774"/>
              </a:lnSpc>
            </a:pPr>
            <a:r>
              <a:rPr sz="1900" b="0" i="0">
                <a:solidFill>
                  <a:srgbClr val="C6A24E"/>
                </a:solidFill>
                <a:latin typeface="Montserrat"/>
              </a:rPr>
              <a:t>—  </a:t>
            </a:r>
            <a:r>
              <a:rPr sz="1900" b="0" i="0">
                <a:solidFill>
                  <a:srgbClr val="453F35"/>
                </a:solidFill>
                <a:latin typeface="Montserrat"/>
              </a:rPr>
              <a:t>Previous procedural injury</a:t>
            </a:r>
          </a:p>
        </p:txBody>
      </p:sp>
      <p:sp>
        <p:nvSpPr>
          <p:cNvPr id="22" name="TextBox 21"/>
          <p:cNvSpPr txBox="1"/>
          <p:nvPr/>
        </p:nvSpPr>
        <p:spPr>
          <a:xfrm>
            <a:off x="812798" y="6178534"/>
            <a:ext cx="6890748" cy="184150"/>
          </a:xfrm>
          <a:prstGeom prst="rect">
            <a:avLst/>
          </a:prstGeom>
          <a:noFill/>
        </p:spPr>
        <p:txBody>
          <a:bodyPr wrap="none" lIns="0" rIns="0" tIns="0" bIns="0" anchor="ctr">
            <a:noAutofit/>
          </a:bodyPr>
          <a:lstStyle/>
          <a:p>
            <a:pPr algn="l">
              <a:lnSpc>
                <a:spcPts val="1439"/>
              </a:lnSpc>
            </a:pPr>
            <a:r>
              <a:rPr sz="1200" b="0" i="0" spc="18">
                <a:solidFill>
                  <a:srgbClr val="7C7365"/>
                </a:solidFill>
                <a:latin typeface="Montserrat"/>
              </a:rPr>
              <a:t>Lewis et al. BAD guidelines, </a:t>
            </a:r>
            <a:r>
              <a:rPr sz="1200" b="0" i="0" spc="18">
                <a:solidFill>
                  <a:srgbClr val="7C7365"/>
                </a:solidFill>
                <a:latin typeface="Montserrat"/>
              </a:rPr>
              <a:t>Br J Dermatol</a:t>
            </a:r>
            <a:r>
              <a:rPr sz="1200" b="0" i="0" spc="18">
                <a:solidFill>
                  <a:srgbClr val="7C7365"/>
                </a:solidFill>
                <a:latin typeface="Montserrat"/>
              </a:rPr>
              <a:t> 2018;178:839–53</a:t>
            </a:r>
          </a:p>
        </p:txBody>
      </p:sp>
      <p:sp>
        <p:nvSpPr>
          <p:cNvPr id="23" name="TextBox 22"/>
          <p:cNvSpPr txBox="1"/>
          <p:nvPr/>
        </p:nvSpPr>
        <p:spPr>
          <a:xfrm>
            <a:off x="8046446" y="6184884"/>
            <a:ext cx="2822250" cy="171450"/>
          </a:xfrm>
          <a:prstGeom prst="rect">
            <a:avLst/>
          </a:prstGeom>
          <a:noFill/>
        </p:spPr>
        <p:txBody>
          <a:bodyPr wrap="none" lIns="0" rIns="0" tIns="0" bIns="0" anchor="ctr">
            <a:noAutofit/>
          </a:bodyPr>
          <a:lstStyle/>
          <a:p>
            <a:pPr algn="l">
              <a:lnSpc>
                <a:spcPts val="1260"/>
              </a:lnSpc>
            </a:pPr>
            <a:r>
              <a:rPr sz="1050" b="1" i="0" spc="189">
                <a:solidFill>
                  <a:srgbClr val="8A6A1C"/>
                </a:solidFill>
                <a:latin typeface="Montserrat"/>
              </a:rPr>
              <a:t>EXPERT CLINICAL FRAMEWORK</a:t>
            </a:r>
          </a:p>
        </p:txBody>
      </p:sp>
      <p:sp>
        <p:nvSpPr>
          <p:cNvPr id="24" name="TextBox 23"/>
          <p:cNvSpPr txBox="1"/>
          <p:nvPr/>
        </p:nvSpPr>
        <p:spPr>
          <a:xfrm>
            <a:off x="11211595" y="6162659"/>
            <a:ext cx="167576" cy="215899"/>
          </a:xfrm>
          <a:prstGeom prst="rect">
            <a:avLst/>
          </a:prstGeom>
          <a:noFill/>
        </p:spPr>
        <p:txBody>
          <a:bodyPr wrap="none" lIns="0" rIns="0" tIns="0" bIns="0" anchor="ctr">
            <a:noAutofit/>
          </a:bodyPr>
          <a:lstStyle/>
          <a:p>
            <a:pPr algn="l">
              <a:lnSpc>
                <a:spcPts val="1680"/>
              </a:lnSpc>
            </a:pPr>
            <a:r>
              <a:rPr sz="1400" b="0" i="0">
                <a:solidFill>
                  <a:srgbClr val="7C7365"/>
                </a:solidFill>
                <a:latin typeface="Cormorant Garamond"/>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Rectangle 1"/>
          <p:cNvSpPr/>
          <p:nvPr/>
        </p:nvSpPr>
        <p:spPr>
          <a:xfrm>
            <a:off x="812798" y="1628898"/>
            <a:ext cx="609598" cy="6350"/>
          </a:xfrm>
          <a:prstGeom prst="rect">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ounded Rectangle 2"/>
          <p:cNvSpPr/>
          <p:nvPr/>
        </p:nvSpPr>
        <p:spPr>
          <a:xfrm>
            <a:off x="1519932" y="2278057"/>
            <a:ext cx="95250" cy="95250"/>
          </a:xfrm>
          <a:prstGeom prst="roundRect">
            <a:avLst>
              <a:gd name="adj" fmla="val 50000"/>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ounded Rectangle 3"/>
          <p:cNvSpPr/>
          <p:nvPr/>
        </p:nvSpPr>
        <p:spPr>
          <a:xfrm>
            <a:off x="3029450" y="2278057"/>
            <a:ext cx="95250" cy="95250"/>
          </a:xfrm>
          <a:prstGeom prst="roundRect">
            <a:avLst>
              <a:gd name="adj" fmla="val 50000"/>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ounded Rectangle 4"/>
          <p:cNvSpPr/>
          <p:nvPr/>
        </p:nvSpPr>
        <p:spPr>
          <a:xfrm>
            <a:off x="4538968" y="2278057"/>
            <a:ext cx="95250" cy="95250"/>
          </a:xfrm>
          <a:prstGeom prst="roundRect">
            <a:avLst>
              <a:gd name="adj" fmla="val 50000"/>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ounded Rectangle 5"/>
          <p:cNvSpPr/>
          <p:nvPr/>
        </p:nvSpPr>
        <p:spPr>
          <a:xfrm>
            <a:off x="6048487" y="2278057"/>
            <a:ext cx="95250" cy="95250"/>
          </a:xfrm>
          <a:prstGeom prst="roundRect">
            <a:avLst>
              <a:gd name="adj" fmla="val 50000"/>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ounded Rectangle 6"/>
          <p:cNvSpPr/>
          <p:nvPr/>
        </p:nvSpPr>
        <p:spPr>
          <a:xfrm>
            <a:off x="7557941" y="2278057"/>
            <a:ext cx="95250" cy="95250"/>
          </a:xfrm>
          <a:prstGeom prst="roundRect">
            <a:avLst>
              <a:gd name="adj" fmla="val 50000"/>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Rounded Rectangle 7"/>
          <p:cNvSpPr/>
          <p:nvPr/>
        </p:nvSpPr>
        <p:spPr>
          <a:xfrm>
            <a:off x="9067459" y="2278057"/>
            <a:ext cx="95250" cy="95250"/>
          </a:xfrm>
          <a:prstGeom prst="roundRect">
            <a:avLst>
              <a:gd name="adj" fmla="val 50000"/>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Rounded Rectangle 8"/>
          <p:cNvSpPr/>
          <p:nvPr/>
        </p:nvSpPr>
        <p:spPr>
          <a:xfrm>
            <a:off x="10576978" y="2278057"/>
            <a:ext cx="95250" cy="95250"/>
          </a:xfrm>
          <a:prstGeom prst="roundRect">
            <a:avLst>
              <a:gd name="adj" fmla="val 50000"/>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Rounded Rectangle 9"/>
          <p:cNvSpPr/>
          <p:nvPr/>
        </p:nvSpPr>
        <p:spPr>
          <a:xfrm>
            <a:off x="2168710" y="3706803"/>
            <a:ext cx="1864800" cy="374649"/>
          </a:xfrm>
          <a:prstGeom prst="roundRect">
            <a:avLst>
              <a:gd name="adj" fmla="val 50000"/>
            </a:avLst>
          </a:prstGeom>
          <a:solidFill>
            <a:srgbClr val="F5EFE3"/>
          </a:solidFill>
          <a:ln w="6350">
            <a:solidFill>
              <a:srgbClr val="C6A24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ounded Rectangle 10"/>
          <p:cNvSpPr/>
          <p:nvPr/>
        </p:nvSpPr>
        <p:spPr>
          <a:xfrm>
            <a:off x="5553442" y="3706803"/>
            <a:ext cx="1430651" cy="374649"/>
          </a:xfrm>
          <a:prstGeom prst="roundRect">
            <a:avLst>
              <a:gd name="adj" fmla="val 50000"/>
            </a:avLst>
          </a:prstGeom>
          <a:solidFill>
            <a:srgbClr val="F5EFE3"/>
          </a:solidFill>
          <a:ln w="6350">
            <a:solidFill>
              <a:srgbClr val="C6A24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ounded Rectangle 11"/>
          <p:cNvSpPr/>
          <p:nvPr/>
        </p:nvSpPr>
        <p:spPr>
          <a:xfrm>
            <a:off x="5389422" y="4157652"/>
            <a:ext cx="1758628" cy="374649"/>
          </a:xfrm>
          <a:prstGeom prst="roundRect">
            <a:avLst>
              <a:gd name="adj" fmla="val 50000"/>
            </a:avLst>
          </a:prstGeom>
          <a:solidFill>
            <a:srgbClr val="F5EFE3"/>
          </a:solidFill>
          <a:ln w="6350">
            <a:solidFill>
              <a:srgbClr val="C6A24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ounded Rectangle 12"/>
          <p:cNvSpPr/>
          <p:nvPr/>
        </p:nvSpPr>
        <p:spPr>
          <a:xfrm>
            <a:off x="8504025" y="3706803"/>
            <a:ext cx="1519234" cy="374649"/>
          </a:xfrm>
          <a:prstGeom prst="roundRect">
            <a:avLst>
              <a:gd name="adj" fmla="val 50000"/>
            </a:avLst>
          </a:prstGeom>
          <a:solidFill>
            <a:srgbClr val="F5EFE3"/>
          </a:solidFill>
          <a:ln w="6350">
            <a:solidFill>
              <a:srgbClr val="C6A24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ounded Rectangle 13"/>
          <p:cNvSpPr/>
          <p:nvPr/>
        </p:nvSpPr>
        <p:spPr>
          <a:xfrm>
            <a:off x="8659409" y="4157652"/>
            <a:ext cx="1208465" cy="374649"/>
          </a:xfrm>
          <a:prstGeom prst="roundRect">
            <a:avLst>
              <a:gd name="adj" fmla="val 50000"/>
            </a:avLst>
          </a:prstGeom>
          <a:solidFill>
            <a:srgbClr val="F5EFE3"/>
          </a:solidFill>
          <a:ln w="6350">
            <a:solidFill>
              <a:srgbClr val="C6A24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5" name="Connector 14"/>
          <p:cNvCxnSpPr/>
          <p:nvPr/>
        </p:nvCxnSpPr>
        <p:spPr>
          <a:xfrm>
            <a:off x="812798" y="5994385"/>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pic>
        <p:nvPicPr>
          <p:cNvPr id="16" name="Picture 15" descr="s07-0.png"/>
          <p:cNvPicPr>
            <a:picLocks noChangeAspect="1"/>
          </p:cNvPicPr>
          <p:nvPr/>
        </p:nvPicPr>
        <p:blipFill>
          <a:blip r:embed="rId2"/>
          <a:stretch>
            <a:fillRect/>
          </a:stretch>
        </p:blipFill>
        <p:spPr>
          <a:xfrm>
            <a:off x="812798" y="3059105"/>
            <a:ext cx="10566373" cy="139700"/>
          </a:xfrm>
          <a:prstGeom prst="rect">
            <a:avLst/>
          </a:prstGeom>
        </p:spPr>
      </p:pic>
      <p:sp>
        <p:nvSpPr>
          <p:cNvPr id="17" name="TextBox 16"/>
          <p:cNvSpPr txBox="1"/>
          <p:nvPr/>
        </p:nvSpPr>
        <p:spPr>
          <a:xfrm>
            <a:off x="812798" y="558799"/>
            <a:ext cx="10566373" cy="203199"/>
          </a:xfrm>
          <a:prstGeom prst="rect">
            <a:avLst/>
          </a:prstGeom>
          <a:noFill/>
        </p:spPr>
        <p:txBody>
          <a:bodyPr wrap="none" lIns="0" rIns="0" tIns="0" bIns="0" anchor="ctr">
            <a:noAutofit/>
          </a:bodyPr>
          <a:lstStyle/>
          <a:p>
            <a:pPr algn="l">
              <a:lnSpc>
                <a:spcPts val="1560"/>
              </a:lnSpc>
            </a:pPr>
            <a:r>
              <a:rPr sz="1300" b="1" i="0" spc="416">
                <a:solidFill>
                  <a:srgbClr val="8A6A1C"/>
                </a:solidFill>
                <a:latin typeface="Montserrat"/>
              </a:rPr>
              <a:t>PIGMENT</a:t>
            </a:r>
          </a:p>
        </p:txBody>
      </p:sp>
      <p:sp>
        <p:nvSpPr>
          <p:cNvPr id="18" name="TextBox 17"/>
          <p:cNvSpPr txBox="1"/>
          <p:nvPr/>
        </p:nvSpPr>
        <p:spPr>
          <a:xfrm>
            <a:off x="812798" y="888998"/>
            <a:ext cx="10566373" cy="549401"/>
          </a:xfrm>
          <a:prstGeom prst="rect">
            <a:avLst/>
          </a:prstGeom>
          <a:noFill/>
        </p:spPr>
        <p:txBody>
          <a:bodyPr wrap="none" lIns="0" rIns="0" tIns="0" bIns="0" anchor="ctr">
            <a:noAutofit/>
          </a:bodyPr>
          <a:lstStyle/>
          <a:p>
            <a:pPr algn="l">
              <a:lnSpc>
                <a:spcPts val="4326"/>
              </a:lnSpc>
            </a:pPr>
            <a:r>
              <a:rPr sz="4200" b="1" i="0" spc="17">
                <a:solidFill>
                  <a:srgbClr val="2E2B26"/>
                </a:solidFill>
                <a:latin typeface="Cormorant Garamond"/>
              </a:rPr>
              <a:t>Target the mechanism, not the shade</a:t>
            </a:r>
          </a:p>
        </p:txBody>
      </p:sp>
      <p:sp>
        <p:nvSpPr>
          <p:cNvPr id="19" name="TextBox 18"/>
          <p:cNvSpPr txBox="1"/>
          <p:nvPr/>
        </p:nvSpPr>
        <p:spPr>
          <a:xfrm>
            <a:off x="1186431" y="2500306"/>
            <a:ext cx="762189" cy="768348"/>
          </a:xfrm>
          <a:prstGeom prst="rect">
            <a:avLst/>
          </a:prstGeom>
          <a:noFill/>
        </p:spPr>
        <p:txBody>
          <a:bodyPr wrap="square" lIns="0" rIns="0" tIns="0" bIns="0" anchor="t">
            <a:noAutofit/>
          </a:bodyPr>
          <a:lstStyle/>
          <a:p>
            <a:pPr algn="ctr">
              <a:lnSpc>
                <a:spcPts val="1950"/>
              </a:lnSpc>
            </a:pPr>
            <a:r>
              <a:rPr sz="1500" b="0" i="0" spc="15">
                <a:solidFill>
                  <a:srgbClr val="453F35"/>
                </a:solidFill>
                <a:latin typeface="Montserrat"/>
              </a:rPr>
              <a:t>Trigger</a:t>
            </a:r>
          </a:p>
        </p:txBody>
      </p:sp>
      <p:sp>
        <p:nvSpPr>
          <p:cNvPr id="20" name="TextBox 19"/>
          <p:cNvSpPr txBox="1"/>
          <p:nvPr/>
        </p:nvSpPr>
        <p:spPr>
          <a:xfrm>
            <a:off x="2382450" y="2500306"/>
            <a:ext cx="1389186" cy="768348"/>
          </a:xfrm>
          <a:prstGeom prst="rect">
            <a:avLst/>
          </a:prstGeom>
          <a:noFill/>
        </p:spPr>
        <p:txBody>
          <a:bodyPr wrap="square" lIns="0" rIns="0" tIns="0" bIns="0" anchor="t">
            <a:noAutofit/>
          </a:bodyPr>
          <a:lstStyle/>
          <a:p>
            <a:pPr algn="ctr">
              <a:lnSpc>
                <a:spcPts val="1950"/>
              </a:lnSpc>
            </a:pPr>
            <a:r>
              <a:rPr sz="1500" b="0" i="0" spc="15">
                <a:solidFill>
                  <a:srgbClr val="453F35"/>
                </a:solidFill>
                <a:latin typeface="Montserrat"/>
              </a:rPr>
              <a:t>Inflammatory</a:t>
            </a:r>
          </a:p>
          <a:p>
            <a:pPr algn="ctr">
              <a:lnSpc>
                <a:spcPts val="1950"/>
              </a:lnSpc>
            </a:pPr>
            <a:r>
              <a:rPr sz="1500" b="0" i="0" spc="15">
                <a:solidFill>
                  <a:srgbClr val="453F35"/>
                </a:solidFill>
                <a:latin typeface="Montserrat"/>
              </a:rPr>
              <a:t>signalling</a:t>
            </a:r>
          </a:p>
        </p:txBody>
      </p:sp>
      <p:sp>
        <p:nvSpPr>
          <p:cNvPr id="21" name="TextBox 20"/>
          <p:cNvSpPr txBox="1"/>
          <p:nvPr/>
        </p:nvSpPr>
        <p:spPr>
          <a:xfrm>
            <a:off x="3990965" y="2500306"/>
            <a:ext cx="1191193" cy="768348"/>
          </a:xfrm>
          <a:prstGeom prst="rect">
            <a:avLst/>
          </a:prstGeom>
          <a:noFill/>
        </p:spPr>
        <p:txBody>
          <a:bodyPr wrap="square" lIns="0" rIns="0" tIns="0" bIns="0" anchor="t">
            <a:noAutofit/>
          </a:bodyPr>
          <a:lstStyle/>
          <a:p>
            <a:pPr algn="ctr">
              <a:lnSpc>
                <a:spcPts val="1950"/>
              </a:lnSpc>
            </a:pPr>
            <a:r>
              <a:rPr sz="1500" b="0" i="0" spc="15">
                <a:solidFill>
                  <a:srgbClr val="453F35"/>
                </a:solidFill>
                <a:latin typeface="Montserrat"/>
              </a:rPr>
              <a:t>Melanocyte</a:t>
            </a:r>
          </a:p>
          <a:p>
            <a:pPr algn="ctr">
              <a:lnSpc>
                <a:spcPts val="1950"/>
              </a:lnSpc>
            </a:pPr>
            <a:r>
              <a:rPr sz="1500" b="0" i="0" spc="15">
                <a:solidFill>
                  <a:srgbClr val="453F35"/>
                </a:solidFill>
                <a:latin typeface="Montserrat"/>
              </a:rPr>
              <a:t>activation</a:t>
            </a:r>
          </a:p>
        </p:txBody>
      </p:sp>
      <p:sp>
        <p:nvSpPr>
          <p:cNvPr id="22" name="TextBox 21"/>
          <p:cNvSpPr txBox="1"/>
          <p:nvPr/>
        </p:nvSpPr>
        <p:spPr>
          <a:xfrm>
            <a:off x="5555029" y="2500306"/>
            <a:ext cx="1081974" cy="768348"/>
          </a:xfrm>
          <a:prstGeom prst="rect">
            <a:avLst/>
          </a:prstGeom>
          <a:noFill/>
        </p:spPr>
        <p:txBody>
          <a:bodyPr wrap="square" lIns="0" rIns="0" tIns="0" bIns="0" anchor="t">
            <a:noAutofit/>
          </a:bodyPr>
          <a:lstStyle/>
          <a:p>
            <a:pPr algn="ctr">
              <a:lnSpc>
                <a:spcPts val="1950"/>
              </a:lnSpc>
            </a:pPr>
            <a:r>
              <a:rPr sz="1500" b="0" i="0" spc="15">
                <a:solidFill>
                  <a:srgbClr val="453F35"/>
                </a:solidFill>
                <a:latin typeface="Montserrat"/>
              </a:rPr>
              <a:t>Tyrosinase</a:t>
            </a:r>
          </a:p>
          <a:p>
            <a:pPr algn="ctr">
              <a:lnSpc>
                <a:spcPts val="1950"/>
              </a:lnSpc>
            </a:pPr>
            <a:r>
              <a:rPr sz="1500" b="0" i="0" spc="15">
                <a:solidFill>
                  <a:srgbClr val="453F35"/>
                </a:solidFill>
                <a:latin typeface="Montserrat"/>
              </a:rPr>
              <a:t>activity</a:t>
            </a:r>
          </a:p>
        </p:txBody>
      </p:sp>
      <p:sp>
        <p:nvSpPr>
          <p:cNvPr id="23" name="TextBox 22"/>
          <p:cNvSpPr txBox="1"/>
          <p:nvPr/>
        </p:nvSpPr>
        <p:spPr>
          <a:xfrm>
            <a:off x="7123602" y="2500306"/>
            <a:ext cx="963991" cy="768348"/>
          </a:xfrm>
          <a:prstGeom prst="rect">
            <a:avLst/>
          </a:prstGeom>
          <a:noFill/>
        </p:spPr>
        <p:txBody>
          <a:bodyPr wrap="square" lIns="0" rIns="0" tIns="0" bIns="0" anchor="t">
            <a:noAutofit/>
          </a:bodyPr>
          <a:lstStyle/>
          <a:p>
            <a:pPr algn="ctr">
              <a:lnSpc>
                <a:spcPts val="1950"/>
              </a:lnSpc>
            </a:pPr>
            <a:r>
              <a:rPr sz="1500" b="0" i="0" spc="15">
                <a:solidFill>
                  <a:srgbClr val="453F35"/>
                </a:solidFill>
                <a:latin typeface="Montserrat"/>
              </a:rPr>
              <a:t>Melanin</a:t>
            </a:r>
          </a:p>
          <a:p>
            <a:pPr algn="ctr">
              <a:lnSpc>
                <a:spcPts val="1950"/>
              </a:lnSpc>
            </a:pPr>
            <a:r>
              <a:rPr sz="1500" b="0" i="0" spc="15">
                <a:solidFill>
                  <a:srgbClr val="453F35"/>
                </a:solidFill>
                <a:latin typeface="Montserrat"/>
              </a:rPr>
              <a:t>synthesis</a:t>
            </a:r>
          </a:p>
        </p:txBody>
      </p:sp>
      <p:sp>
        <p:nvSpPr>
          <p:cNvPr id="24" name="TextBox 23"/>
          <p:cNvSpPr txBox="1"/>
          <p:nvPr/>
        </p:nvSpPr>
        <p:spPr>
          <a:xfrm>
            <a:off x="8454623" y="2500306"/>
            <a:ext cx="1320987" cy="768348"/>
          </a:xfrm>
          <a:prstGeom prst="rect">
            <a:avLst/>
          </a:prstGeom>
          <a:noFill/>
        </p:spPr>
        <p:txBody>
          <a:bodyPr wrap="square" lIns="0" rIns="0" tIns="0" bIns="0" anchor="t">
            <a:noAutofit/>
          </a:bodyPr>
          <a:lstStyle/>
          <a:p>
            <a:pPr algn="ctr">
              <a:lnSpc>
                <a:spcPts val="1950"/>
              </a:lnSpc>
            </a:pPr>
            <a:r>
              <a:rPr sz="1500" b="0" i="0" spc="15">
                <a:solidFill>
                  <a:srgbClr val="453F35"/>
                </a:solidFill>
                <a:latin typeface="Montserrat"/>
              </a:rPr>
              <a:t>Melanosome</a:t>
            </a:r>
          </a:p>
          <a:p>
            <a:pPr algn="ctr">
              <a:lnSpc>
                <a:spcPts val="1950"/>
              </a:lnSpc>
            </a:pPr>
            <a:r>
              <a:rPr sz="1500" b="0" i="0" spc="15">
                <a:solidFill>
                  <a:srgbClr val="453F35"/>
                </a:solidFill>
                <a:latin typeface="Montserrat"/>
              </a:rPr>
              <a:t>transfer</a:t>
            </a:r>
          </a:p>
        </p:txBody>
      </p:sp>
      <p:sp>
        <p:nvSpPr>
          <p:cNvPr id="25" name="TextBox 24"/>
          <p:cNvSpPr txBox="1"/>
          <p:nvPr/>
        </p:nvSpPr>
        <p:spPr>
          <a:xfrm>
            <a:off x="9921532" y="2500306"/>
            <a:ext cx="1406013" cy="768348"/>
          </a:xfrm>
          <a:prstGeom prst="rect">
            <a:avLst/>
          </a:prstGeom>
          <a:noFill/>
        </p:spPr>
        <p:txBody>
          <a:bodyPr wrap="square" lIns="0" rIns="0" tIns="0" bIns="0" anchor="t">
            <a:noAutofit/>
          </a:bodyPr>
          <a:lstStyle/>
          <a:p>
            <a:pPr algn="ctr">
              <a:lnSpc>
                <a:spcPts val="1950"/>
              </a:lnSpc>
            </a:pPr>
            <a:r>
              <a:rPr sz="1500" b="0" i="0" spc="15">
                <a:solidFill>
                  <a:srgbClr val="453F35"/>
                </a:solidFill>
                <a:latin typeface="Montserrat"/>
              </a:rPr>
              <a:t>Visible</a:t>
            </a:r>
          </a:p>
          <a:p>
            <a:pPr algn="ctr">
              <a:lnSpc>
                <a:spcPts val="1950"/>
              </a:lnSpc>
            </a:pPr>
            <a:r>
              <a:rPr sz="1500" b="0" i="0" spc="15">
                <a:solidFill>
                  <a:srgbClr val="453F35"/>
                </a:solidFill>
                <a:latin typeface="Montserrat"/>
              </a:rPr>
              <a:t>pigmentation</a:t>
            </a:r>
          </a:p>
        </p:txBody>
      </p:sp>
      <p:sp>
        <p:nvSpPr>
          <p:cNvPr id="26" name="TextBox 25"/>
          <p:cNvSpPr txBox="1"/>
          <p:nvPr/>
        </p:nvSpPr>
        <p:spPr>
          <a:xfrm>
            <a:off x="2308410" y="3770303"/>
            <a:ext cx="1585400" cy="247649"/>
          </a:xfrm>
          <a:prstGeom prst="rect">
            <a:avLst/>
          </a:prstGeom>
          <a:noFill/>
        </p:spPr>
        <p:txBody>
          <a:bodyPr wrap="none" lIns="0" rIns="0" tIns="0" bIns="0" anchor="ctr">
            <a:noAutofit/>
          </a:bodyPr>
          <a:lstStyle/>
          <a:p>
            <a:pPr algn="l">
              <a:lnSpc>
                <a:spcPts val="1800"/>
              </a:lnSpc>
            </a:pPr>
            <a:r>
              <a:rPr sz="1500" b="0" i="0">
                <a:solidFill>
                  <a:srgbClr val="8A6A1C"/>
                </a:solidFill>
                <a:latin typeface="Montserrat"/>
              </a:rPr>
              <a:t>Tranexamic acid</a:t>
            </a:r>
          </a:p>
        </p:txBody>
      </p:sp>
      <p:sp>
        <p:nvSpPr>
          <p:cNvPr id="27" name="TextBox 26"/>
          <p:cNvSpPr txBox="1"/>
          <p:nvPr/>
        </p:nvSpPr>
        <p:spPr>
          <a:xfrm>
            <a:off x="5693142" y="3770303"/>
            <a:ext cx="1151252" cy="247649"/>
          </a:xfrm>
          <a:prstGeom prst="rect">
            <a:avLst/>
          </a:prstGeom>
          <a:noFill/>
        </p:spPr>
        <p:txBody>
          <a:bodyPr wrap="none" lIns="0" rIns="0" tIns="0" bIns="0" anchor="ctr">
            <a:noAutofit/>
          </a:bodyPr>
          <a:lstStyle/>
          <a:p>
            <a:pPr algn="l">
              <a:lnSpc>
                <a:spcPts val="1800"/>
              </a:lnSpc>
            </a:pPr>
            <a:r>
              <a:rPr sz="1500" b="0" i="0">
                <a:solidFill>
                  <a:srgbClr val="8A6A1C"/>
                </a:solidFill>
                <a:latin typeface="Montserrat"/>
              </a:rPr>
              <a:t>Azelaic acid</a:t>
            </a:r>
          </a:p>
        </p:txBody>
      </p:sp>
      <p:sp>
        <p:nvSpPr>
          <p:cNvPr id="28" name="TextBox 27"/>
          <p:cNvSpPr txBox="1"/>
          <p:nvPr/>
        </p:nvSpPr>
        <p:spPr>
          <a:xfrm>
            <a:off x="5529121" y="4221152"/>
            <a:ext cx="1479229" cy="247649"/>
          </a:xfrm>
          <a:prstGeom prst="rect">
            <a:avLst/>
          </a:prstGeom>
          <a:noFill/>
        </p:spPr>
        <p:txBody>
          <a:bodyPr wrap="none" lIns="0" rIns="0" tIns="0" bIns="0" anchor="ctr">
            <a:noAutofit/>
          </a:bodyPr>
          <a:lstStyle/>
          <a:p>
            <a:pPr algn="l">
              <a:lnSpc>
                <a:spcPts val="1800"/>
              </a:lnSpc>
            </a:pPr>
            <a:r>
              <a:rPr sz="1500" b="0" i="0">
                <a:solidFill>
                  <a:srgbClr val="8A6A1C"/>
                </a:solidFill>
                <a:latin typeface="Montserrat"/>
              </a:rPr>
              <a:t>Hydroquinone*</a:t>
            </a:r>
          </a:p>
        </p:txBody>
      </p:sp>
      <p:sp>
        <p:nvSpPr>
          <p:cNvPr id="29" name="TextBox 28"/>
          <p:cNvSpPr txBox="1"/>
          <p:nvPr/>
        </p:nvSpPr>
        <p:spPr>
          <a:xfrm>
            <a:off x="8643725" y="3770303"/>
            <a:ext cx="1239834" cy="247649"/>
          </a:xfrm>
          <a:prstGeom prst="rect">
            <a:avLst/>
          </a:prstGeom>
          <a:noFill/>
        </p:spPr>
        <p:txBody>
          <a:bodyPr wrap="none" lIns="0" rIns="0" tIns="0" bIns="0" anchor="ctr">
            <a:noAutofit/>
          </a:bodyPr>
          <a:lstStyle/>
          <a:p>
            <a:pPr algn="l">
              <a:lnSpc>
                <a:spcPts val="1800"/>
              </a:lnSpc>
            </a:pPr>
            <a:r>
              <a:rPr sz="1500" b="0" i="0">
                <a:solidFill>
                  <a:srgbClr val="8A6A1C"/>
                </a:solidFill>
                <a:latin typeface="Montserrat"/>
              </a:rPr>
              <a:t>Niacinamide</a:t>
            </a:r>
          </a:p>
        </p:txBody>
      </p:sp>
      <p:sp>
        <p:nvSpPr>
          <p:cNvPr id="30" name="TextBox 29"/>
          <p:cNvSpPr txBox="1"/>
          <p:nvPr/>
        </p:nvSpPr>
        <p:spPr>
          <a:xfrm>
            <a:off x="8799109" y="4221152"/>
            <a:ext cx="929066" cy="247649"/>
          </a:xfrm>
          <a:prstGeom prst="rect">
            <a:avLst/>
          </a:prstGeom>
          <a:noFill/>
        </p:spPr>
        <p:txBody>
          <a:bodyPr wrap="none" lIns="0" rIns="0" tIns="0" bIns="0" anchor="ctr">
            <a:noAutofit/>
          </a:bodyPr>
          <a:lstStyle/>
          <a:p>
            <a:pPr algn="l">
              <a:lnSpc>
                <a:spcPts val="1800"/>
              </a:lnSpc>
            </a:pPr>
            <a:r>
              <a:rPr sz="1500" b="0" i="0">
                <a:solidFill>
                  <a:srgbClr val="8A6A1C"/>
                </a:solidFill>
                <a:latin typeface="Montserrat"/>
              </a:rPr>
              <a:t>Retinoids</a:t>
            </a:r>
          </a:p>
        </p:txBody>
      </p:sp>
      <p:sp>
        <p:nvSpPr>
          <p:cNvPr id="31" name="TextBox 30"/>
          <p:cNvSpPr txBox="1"/>
          <p:nvPr/>
        </p:nvSpPr>
        <p:spPr>
          <a:xfrm>
            <a:off x="1330131" y="4887900"/>
            <a:ext cx="9531643" cy="266699"/>
          </a:xfrm>
          <a:prstGeom prst="rect">
            <a:avLst/>
          </a:prstGeom>
          <a:noFill/>
        </p:spPr>
        <p:txBody>
          <a:bodyPr wrap="none" lIns="0" rIns="0" tIns="0" bIns="0" anchor="ctr">
            <a:noAutofit/>
          </a:bodyPr>
          <a:lstStyle/>
          <a:p>
            <a:pPr algn="l">
              <a:lnSpc>
                <a:spcPts val="2039"/>
              </a:lnSpc>
            </a:pPr>
            <a:r>
              <a:rPr sz="1700" b="0" i="0" spc="34">
                <a:solidFill>
                  <a:srgbClr val="7C7365"/>
                </a:solidFill>
                <a:latin typeface="Montserrat"/>
              </a:rPr>
              <a:t>Dermatological evidence is established · vulvar application is anatomical extrapolation</a:t>
            </a:r>
          </a:p>
        </p:txBody>
      </p:sp>
      <p:sp>
        <p:nvSpPr>
          <p:cNvPr id="32" name="TextBox 31"/>
          <p:cNvSpPr txBox="1"/>
          <p:nvPr/>
        </p:nvSpPr>
        <p:spPr>
          <a:xfrm>
            <a:off x="3069011" y="5243499"/>
            <a:ext cx="6053821" cy="209549"/>
          </a:xfrm>
          <a:prstGeom prst="rect">
            <a:avLst/>
          </a:prstGeom>
          <a:noFill/>
        </p:spPr>
        <p:txBody>
          <a:bodyPr wrap="none" lIns="0" rIns="0" tIns="0" bIns="0" anchor="ctr">
            <a:noAutofit/>
          </a:bodyPr>
          <a:lstStyle/>
          <a:p>
            <a:pPr algn="l">
              <a:lnSpc>
                <a:spcPts val="1620"/>
              </a:lnSpc>
            </a:pPr>
            <a:r>
              <a:rPr sz="1350" b="0" i="0" spc="27">
                <a:solidFill>
                  <a:srgbClr val="7C7365"/>
                </a:solidFill>
                <a:latin typeface="Montserrat"/>
              </a:rPr>
              <a:t>* prescription-only in several jurisdictions · exogenous ochronosis risk</a:t>
            </a:r>
          </a:p>
        </p:txBody>
      </p:sp>
      <p:sp>
        <p:nvSpPr>
          <p:cNvPr id="33" name="TextBox 32"/>
          <p:cNvSpPr txBox="1"/>
          <p:nvPr/>
        </p:nvSpPr>
        <p:spPr>
          <a:xfrm>
            <a:off x="812798" y="6178534"/>
            <a:ext cx="7328897" cy="184150"/>
          </a:xfrm>
          <a:prstGeom prst="rect">
            <a:avLst/>
          </a:prstGeom>
          <a:noFill/>
        </p:spPr>
        <p:txBody>
          <a:bodyPr wrap="none" lIns="0" rIns="0" tIns="0" bIns="0" anchor="ctr">
            <a:noAutofit/>
          </a:bodyPr>
          <a:lstStyle/>
          <a:p>
            <a:pPr algn="l">
              <a:lnSpc>
                <a:spcPts val="1439"/>
              </a:lnSpc>
            </a:pPr>
            <a:r>
              <a:rPr sz="1200" b="0" i="0" spc="18">
                <a:solidFill>
                  <a:srgbClr val="7C7365"/>
                </a:solidFill>
                <a:latin typeface="Montserrat"/>
              </a:rPr>
              <a:t>Bala et al. </a:t>
            </a:r>
            <a:r>
              <a:rPr sz="1200" b="0" i="0" spc="18">
                <a:solidFill>
                  <a:srgbClr val="7C7365"/>
                </a:solidFill>
                <a:latin typeface="Montserrat"/>
              </a:rPr>
              <a:t>Dermatol Surg</a:t>
            </a:r>
            <a:r>
              <a:rPr sz="1200" b="0" i="0" spc="18">
                <a:solidFill>
                  <a:srgbClr val="7C7365"/>
                </a:solidFill>
                <a:latin typeface="Montserrat"/>
              </a:rPr>
              <a:t> 2018;44:814–25 · Hakozaki et al. </a:t>
            </a:r>
            <a:r>
              <a:rPr sz="1200" b="0" i="0" spc="18">
                <a:solidFill>
                  <a:srgbClr val="7C7365"/>
                </a:solidFill>
                <a:latin typeface="Montserrat"/>
              </a:rPr>
              <a:t>Br J Dermatol</a:t>
            </a:r>
            <a:r>
              <a:rPr sz="1200" b="0" i="0" spc="18">
                <a:solidFill>
                  <a:srgbClr val="7C7365"/>
                </a:solidFill>
                <a:latin typeface="Montserrat"/>
              </a:rPr>
              <a:t> 2002;147:20–31</a:t>
            </a:r>
          </a:p>
        </p:txBody>
      </p:sp>
      <p:sp>
        <p:nvSpPr>
          <p:cNvPr id="34" name="TextBox 33"/>
          <p:cNvSpPr txBox="1"/>
          <p:nvPr/>
        </p:nvSpPr>
        <p:spPr>
          <a:xfrm>
            <a:off x="8484594" y="6184884"/>
            <a:ext cx="2390578" cy="171450"/>
          </a:xfrm>
          <a:prstGeom prst="rect">
            <a:avLst/>
          </a:prstGeom>
          <a:noFill/>
        </p:spPr>
        <p:txBody>
          <a:bodyPr wrap="none" lIns="0" rIns="0" tIns="0" bIns="0" anchor="ctr">
            <a:noAutofit/>
          </a:bodyPr>
          <a:lstStyle/>
          <a:p>
            <a:pPr algn="l">
              <a:lnSpc>
                <a:spcPts val="1260"/>
              </a:lnSpc>
            </a:pPr>
            <a:r>
              <a:rPr sz="1050" b="1" i="0" spc="189">
                <a:solidFill>
                  <a:srgbClr val="8A6A1C"/>
                </a:solidFill>
                <a:latin typeface="Montserrat"/>
              </a:rPr>
              <a:t>EXTRAPOLATED EVIDENCE</a:t>
            </a:r>
          </a:p>
        </p:txBody>
      </p:sp>
      <p:sp>
        <p:nvSpPr>
          <p:cNvPr id="35" name="TextBox 34"/>
          <p:cNvSpPr txBox="1"/>
          <p:nvPr/>
        </p:nvSpPr>
        <p:spPr>
          <a:xfrm>
            <a:off x="11218072" y="6162659"/>
            <a:ext cx="161163" cy="215899"/>
          </a:xfrm>
          <a:prstGeom prst="rect">
            <a:avLst/>
          </a:prstGeom>
          <a:noFill/>
        </p:spPr>
        <p:txBody>
          <a:bodyPr wrap="none" lIns="0" rIns="0" tIns="0" bIns="0" anchor="ctr">
            <a:noAutofit/>
          </a:bodyPr>
          <a:lstStyle/>
          <a:p>
            <a:pPr algn="l">
              <a:lnSpc>
                <a:spcPts val="1680"/>
              </a:lnSpc>
            </a:pPr>
            <a:r>
              <a:rPr sz="1400" b="0" i="0">
                <a:solidFill>
                  <a:srgbClr val="7C7365"/>
                </a:solidFill>
                <a:latin typeface="Cormorant Garamond"/>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Rectangle 1"/>
          <p:cNvSpPr/>
          <p:nvPr/>
        </p:nvSpPr>
        <p:spPr>
          <a:xfrm>
            <a:off x="812798" y="1628898"/>
            <a:ext cx="609598" cy="6350"/>
          </a:xfrm>
          <a:prstGeom prst="rect">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3" name="Connector 2"/>
          <p:cNvCxnSpPr/>
          <p:nvPr/>
        </p:nvCxnSpPr>
        <p:spPr>
          <a:xfrm>
            <a:off x="812798" y="5994385"/>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pic>
        <p:nvPicPr>
          <p:cNvPr id="4" name="Picture 3" descr="s08-0.png"/>
          <p:cNvPicPr>
            <a:picLocks noChangeAspect="1"/>
          </p:cNvPicPr>
          <p:nvPr/>
        </p:nvPicPr>
        <p:blipFill>
          <a:blip r:embed="rId2"/>
          <a:stretch>
            <a:fillRect/>
          </a:stretch>
        </p:blipFill>
        <p:spPr>
          <a:xfrm>
            <a:off x="812798" y="1863847"/>
            <a:ext cx="10566373" cy="3571739"/>
          </a:xfrm>
          <a:prstGeom prst="rect">
            <a:avLst/>
          </a:prstGeom>
        </p:spPr>
      </p:pic>
      <p:sp>
        <p:nvSpPr>
          <p:cNvPr id="5" name="TextBox 4"/>
          <p:cNvSpPr txBox="1"/>
          <p:nvPr/>
        </p:nvSpPr>
        <p:spPr>
          <a:xfrm>
            <a:off x="812798" y="558799"/>
            <a:ext cx="10566373" cy="203199"/>
          </a:xfrm>
          <a:prstGeom prst="rect">
            <a:avLst/>
          </a:prstGeom>
          <a:noFill/>
        </p:spPr>
        <p:txBody>
          <a:bodyPr wrap="none" lIns="0" rIns="0" tIns="0" bIns="0" anchor="ctr">
            <a:noAutofit/>
          </a:bodyPr>
          <a:lstStyle/>
          <a:p>
            <a:pPr algn="l">
              <a:lnSpc>
                <a:spcPts val="1560"/>
              </a:lnSpc>
            </a:pPr>
            <a:r>
              <a:rPr sz="1300" b="1" i="0" spc="416">
                <a:solidFill>
                  <a:srgbClr val="8A6A1C"/>
                </a:solidFill>
                <a:latin typeface="Montserrat"/>
              </a:rPr>
              <a:t>ENERGY</a:t>
            </a:r>
          </a:p>
        </p:txBody>
      </p:sp>
      <p:sp>
        <p:nvSpPr>
          <p:cNvPr id="6" name="TextBox 5"/>
          <p:cNvSpPr txBox="1"/>
          <p:nvPr/>
        </p:nvSpPr>
        <p:spPr>
          <a:xfrm>
            <a:off x="812798" y="888998"/>
            <a:ext cx="10566373" cy="549401"/>
          </a:xfrm>
          <a:prstGeom prst="rect">
            <a:avLst/>
          </a:prstGeom>
          <a:noFill/>
        </p:spPr>
        <p:txBody>
          <a:bodyPr wrap="none" lIns="0" rIns="0" tIns="0" bIns="0" anchor="ctr">
            <a:noAutofit/>
          </a:bodyPr>
          <a:lstStyle/>
          <a:p>
            <a:pPr algn="l">
              <a:lnSpc>
                <a:spcPts val="4326"/>
              </a:lnSpc>
            </a:pPr>
            <a:r>
              <a:rPr sz="4200" b="1" i="0" spc="17">
                <a:solidFill>
                  <a:srgbClr val="2E2B26"/>
                </a:solidFill>
                <a:latin typeface="Cormorant Garamond"/>
              </a:rPr>
              <a:t>Select energy by tissue target</a:t>
            </a:r>
          </a:p>
        </p:txBody>
      </p:sp>
      <p:sp>
        <p:nvSpPr>
          <p:cNvPr id="7" name="TextBox 6"/>
          <p:cNvSpPr txBox="1"/>
          <p:nvPr/>
        </p:nvSpPr>
        <p:spPr>
          <a:xfrm>
            <a:off x="1480372" y="5600686"/>
            <a:ext cx="9231289" cy="266699"/>
          </a:xfrm>
          <a:prstGeom prst="rect">
            <a:avLst/>
          </a:prstGeom>
          <a:noFill/>
        </p:spPr>
        <p:txBody>
          <a:bodyPr wrap="none" lIns="0" rIns="0" tIns="0" bIns="0" anchor="ctr">
            <a:noAutofit/>
          </a:bodyPr>
          <a:lstStyle/>
          <a:p>
            <a:pPr algn="l">
              <a:lnSpc>
                <a:spcPts val="2039"/>
              </a:lnSpc>
            </a:pPr>
            <a:r>
              <a:rPr sz="1700" b="0" i="0" spc="34">
                <a:solidFill>
                  <a:srgbClr val="7C7365"/>
                </a:solidFill>
                <a:latin typeface="Montserrat"/>
              </a:rPr>
              <a:t>Melanin is a competing chromophore — optical risk rises steeply in Fitzpatrick IV–VI</a:t>
            </a:r>
          </a:p>
        </p:txBody>
      </p:sp>
      <p:sp>
        <p:nvSpPr>
          <p:cNvPr id="8" name="TextBox 7"/>
          <p:cNvSpPr txBox="1"/>
          <p:nvPr/>
        </p:nvSpPr>
        <p:spPr>
          <a:xfrm>
            <a:off x="812798" y="6178534"/>
            <a:ext cx="7107410" cy="184150"/>
          </a:xfrm>
          <a:prstGeom prst="rect">
            <a:avLst/>
          </a:prstGeom>
          <a:noFill/>
        </p:spPr>
        <p:txBody>
          <a:bodyPr wrap="none" lIns="0" rIns="0" tIns="0" bIns="0" anchor="ctr">
            <a:noAutofit/>
          </a:bodyPr>
          <a:lstStyle/>
          <a:p>
            <a:pPr algn="l">
              <a:lnSpc>
                <a:spcPts val="1439"/>
              </a:lnSpc>
            </a:pPr>
            <a:r>
              <a:rPr sz="1200" b="0" i="0" spc="18">
                <a:solidFill>
                  <a:srgbClr val="7C7365"/>
                </a:solidFill>
                <a:latin typeface="Montserrat"/>
              </a:rPr>
              <a:t>FDA Safety Communication, 30 July 2018 · Li et al. </a:t>
            </a:r>
            <a:r>
              <a:rPr sz="1200" b="0" i="0" spc="18">
                <a:solidFill>
                  <a:srgbClr val="7C7365"/>
                </a:solidFill>
                <a:latin typeface="Montserrat"/>
              </a:rPr>
              <a:t>JAMA</a:t>
            </a:r>
            <a:r>
              <a:rPr sz="1200" b="0" i="0" spc="18">
                <a:solidFill>
                  <a:srgbClr val="7C7365"/>
                </a:solidFill>
                <a:latin typeface="Montserrat"/>
              </a:rPr>
              <a:t> 2021;326:1381–9</a:t>
            </a:r>
          </a:p>
        </p:txBody>
      </p:sp>
      <p:sp>
        <p:nvSpPr>
          <p:cNvPr id="9" name="TextBox 8"/>
          <p:cNvSpPr txBox="1"/>
          <p:nvPr/>
        </p:nvSpPr>
        <p:spPr>
          <a:xfrm>
            <a:off x="8263107" y="6184884"/>
            <a:ext cx="2601334" cy="171450"/>
          </a:xfrm>
          <a:prstGeom prst="rect">
            <a:avLst/>
          </a:prstGeom>
          <a:noFill/>
        </p:spPr>
        <p:txBody>
          <a:bodyPr wrap="none" lIns="0" rIns="0" tIns="0" bIns="0" anchor="ctr">
            <a:noAutofit/>
          </a:bodyPr>
          <a:lstStyle/>
          <a:p>
            <a:pPr algn="l">
              <a:lnSpc>
                <a:spcPts val="1260"/>
              </a:lnSpc>
            </a:pPr>
            <a:r>
              <a:rPr sz="1050" b="1" i="0" spc="189">
                <a:solidFill>
                  <a:srgbClr val="6E2639"/>
                </a:solidFill>
                <a:latin typeface="Montserrat"/>
              </a:rPr>
              <a:t>EVIDENCE REMAINS LIMITED</a:t>
            </a:r>
          </a:p>
        </p:txBody>
      </p:sp>
      <p:sp>
        <p:nvSpPr>
          <p:cNvPr id="10" name="TextBox 9"/>
          <p:cNvSpPr txBox="1"/>
          <p:nvPr/>
        </p:nvSpPr>
        <p:spPr>
          <a:xfrm>
            <a:off x="11207341" y="6162659"/>
            <a:ext cx="171831" cy="215899"/>
          </a:xfrm>
          <a:prstGeom prst="rect">
            <a:avLst/>
          </a:prstGeom>
          <a:noFill/>
        </p:spPr>
        <p:txBody>
          <a:bodyPr wrap="none" lIns="0" rIns="0" tIns="0" bIns="0" anchor="ctr">
            <a:noAutofit/>
          </a:bodyPr>
          <a:lstStyle/>
          <a:p>
            <a:pPr algn="l">
              <a:lnSpc>
                <a:spcPts val="1680"/>
              </a:lnSpc>
            </a:pPr>
            <a:r>
              <a:rPr sz="1400" b="0" i="0">
                <a:solidFill>
                  <a:srgbClr val="7C7365"/>
                </a:solidFill>
                <a:latin typeface="Cormorant Garamond"/>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Rectangle 1"/>
          <p:cNvSpPr/>
          <p:nvPr/>
        </p:nvSpPr>
        <p:spPr>
          <a:xfrm>
            <a:off x="812798" y="1628898"/>
            <a:ext cx="609598" cy="6350"/>
          </a:xfrm>
          <a:prstGeom prst="rect">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Freeform 2"/>
          <p:cNvSpPr/>
          <p:nvPr/>
        </p:nvSpPr>
        <p:spPr>
          <a:xfrm>
            <a:off x="4108440" y="1832351"/>
            <a:ext cx="3975089" cy="634999"/>
          </a:xfrm>
          <a:custGeom>
            <a:avLst/>
            <a:gdLst/>
            <a:ahLst/>
            <a:cxnLst/>
            <a:rect l="l" t="t" r="r" b="b"/>
            <a:pathLst>
              <a:path w="3975089" h="634999">
                <a:moveTo>
                  <a:pt x="495296" y="0"/>
                </a:moveTo>
                <a:lnTo>
                  <a:pt x="3479793" y="0"/>
                </a:lnTo>
                <a:lnTo>
                  <a:pt x="3975089" y="634999"/>
                </a:lnTo>
                <a:lnTo>
                  <a:pt x="0" y="634999"/>
                </a:lnTo>
                <a:close/>
              </a:path>
            </a:pathLst>
          </a:cu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3613141" y="2505450"/>
            <a:ext cx="4965687" cy="634998"/>
          </a:xfrm>
          <a:custGeom>
            <a:avLst/>
            <a:gdLst/>
            <a:ahLst/>
            <a:cxnLst/>
            <a:rect l="l" t="t" r="r" b="b"/>
            <a:pathLst>
              <a:path w="4965687" h="634998">
                <a:moveTo>
                  <a:pt x="495079" y="0"/>
                </a:moveTo>
                <a:lnTo>
                  <a:pt x="4470608" y="0"/>
                </a:lnTo>
                <a:lnTo>
                  <a:pt x="4965687" y="634998"/>
                </a:lnTo>
                <a:lnTo>
                  <a:pt x="0" y="634998"/>
                </a:lnTo>
                <a:close/>
              </a:path>
            </a:pathLst>
          </a:custGeom>
          <a:solidFill>
            <a:srgbClr val="EFE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3117842" y="3178548"/>
            <a:ext cx="5956285" cy="634998"/>
          </a:xfrm>
          <a:custGeom>
            <a:avLst/>
            <a:gdLst/>
            <a:ahLst/>
            <a:cxnLst/>
            <a:rect l="l" t="t" r="r" b="b"/>
            <a:pathLst>
              <a:path w="5956285" h="634998">
                <a:moveTo>
                  <a:pt x="495563" y="0"/>
                </a:moveTo>
                <a:lnTo>
                  <a:pt x="5460722" y="0"/>
                </a:lnTo>
                <a:lnTo>
                  <a:pt x="5956285" y="634998"/>
                </a:lnTo>
                <a:lnTo>
                  <a:pt x="0" y="634998"/>
                </a:lnTo>
                <a:close/>
              </a:path>
            </a:pathLst>
          </a:custGeom>
          <a:solidFill>
            <a:srgbClr val="EAD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2622543" y="3851646"/>
            <a:ext cx="6946883" cy="634999"/>
          </a:xfrm>
          <a:custGeom>
            <a:avLst/>
            <a:gdLst/>
            <a:ahLst/>
            <a:cxnLst/>
            <a:rect l="l" t="t" r="r" b="b"/>
            <a:pathLst>
              <a:path w="6946883" h="634999">
                <a:moveTo>
                  <a:pt x="495313" y="0"/>
                </a:moveTo>
                <a:lnTo>
                  <a:pt x="6451570" y="0"/>
                </a:lnTo>
                <a:lnTo>
                  <a:pt x="6946883" y="634999"/>
                </a:lnTo>
                <a:lnTo>
                  <a:pt x="0" y="634999"/>
                </a:lnTo>
                <a:close/>
              </a:path>
            </a:pathLst>
          </a:custGeom>
          <a:solidFill>
            <a:srgbClr val="E4D7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2127245" y="4524744"/>
            <a:ext cx="7937479" cy="634999"/>
          </a:xfrm>
          <a:custGeom>
            <a:avLst/>
            <a:gdLst/>
            <a:ahLst/>
            <a:cxnLst/>
            <a:rect l="l" t="t" r="r" b="b"/>
            <a:pathLst>
              <a:path w="7937479" h="634999">
                <a:moveTo>
                  <a:pt x="495298" y="0"/>
                </a:moveTo>
                <a:lnTo>
                  <a:pt x="7442181" y="0"/>
                </a:lnTo>
                <a:lnTo>
                  <a:pt x="7937479" y="634999"/>
                </a:lnTo>
                <a:lnTo>
                  <a:pt x="0" y="634999"/>
                </a:lnTo>
                <a:close/>
              </a:path>
            </a:pathLst>
          </a:custGeom>
          <a:solidFill>
            <a:srgbClr val="DCCB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812798" y="5994385"/>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12798" y="558799"/>
            <a:ext cx="10566373" cy="203199"/>
          </a:xfrm>
          <a:prstGeom prst="rect">
            <a:avLst/>
          </a:prstGeom>
          <a:noFill/>
        </p:spPr>
        <p:txBody>
          <a:bodyPr wrap="none" lIns="0" rIns="0" tIns="0" bIns="0" anchor="ctr">
            <a:noAutofit/>
          </a:bodyPr>
          <a:lstStyle/>
          <a:p>
            <a:pPr algn="l">
              <a:lnSpc>
                <a:spcPts val="1560"/>
              </a:lnSpc>
            </a:pPr>
            <a:r>
              <a:rPr sz="1300" b="1" i="0" spc="416">
                <a:solidFill>
                  <a:srgbClr val="8A6A1C"/>
                </a:solidFill>
                <a:latin typeface="Montserrat"/>
              </a:rPr>
              <a:t>SEQUENCE</a:t>
            </a:r>
          </a:p>
        </p:txBody>
      </p:sp>
      <p:sp>
        <p:nvSpPr>
          <p:cNvPr id="10" name="TextBox 9"/>
          <p:cNvSpPr txBox="1"/>
          <p:nvPr/>
        </p:nvSpPr>
        <p:spPr>
          <a:xfrm>
            <a:off x="812798" y="888998"/>
            <a:ext cx="10566373" cy="549401"/>
          </a:xfrm>
          <a:prstGeom prst="rect">
            <a:avLst/>
          </a:prstGeom>
          <a:noFill/>
        </p:spPr>
        <p:txBody>
          <a:bodyPr wrap="none" lIns="0" rIns="0" tIns="0" bIns="0" anchor="ctr">
            <a:noAutofit/>
          </a:bodyPr>
          <a:lstStyle/>
          <a:p>
            <a:pPr algn="l">
              <a:lnSpc>
                <a:spcPts val="4326"/>
              </a:lnSpc>
            </a:pPr>
            <a:r>
              <a:rPr sz="4200" b="1" i="0" spc="17">
                <a:solidFill>
                  <a:srgbClr val="2E2B26"/>
                </a:solidFill>
                <a:latin typeface="Cormorant Garamond"/>
              </a:rPr>
              <a:t>Therapeutic hierarchy</a:t>
            </a:r>
          </a:p>
        </p:txBody>
      </p:sp>
      <p:sp>
        <p:nvSpPr>
          <p:cNvPr id="11" name="TextBox 10"/>
          <p:cNvSpPr txBox="1"/>
          <p:nvPr/>
        </p:nvSpPr>
        <p:spPr>
          <a:xfrm>
            <a:off x="5095672" y="1895851"/>
            <a:ext cx="2000626" cy="234949"/>
          </a:xfrm>
          <a:prstGeom prst="rect">
            <a:avLst/>
          </a:prstGeom>
          <a:noFill/>
        </p:spPr>
        <p:txBody>
          <a:bodyPr wrap="none" lIns="0" rIns="0" tIns="0" bIns="0" anchor="ctr">
            <a:noAutofit/>
          </a:bodyPr>
          <a:lstStyle/>
          <a:p>
            <a:pPr algn="l">
              <a:lnSpc>
                <a:spcPts val="1800"/>
              </a:lnSpc>
            </a:pPr>
            <a:r>
              <a:rPr sz="1500" b="1" i="0" spc="360">
                <a:solidFill>
                  <a:srgbClr val="8A6A1C"/>
                </a:solidFill>
                <a:latin typeface="Montserrat"/>
              </a:rPr>
              <a:t>MAINTENANCE</a:t>
            </a:r>
          </a:p>
        </p:txBody>
      </p:sp>
      <p:sp>
        <p:nvSpPr>
          <p:cNvPr id="12" name="TextBox 11"/>
          <p:cNvSpPr txBox="1"/>
          <p:nvPr/>
        </p:nvSpPr>
        <p:spPr>
          <a:xfrm>
            <a:off x="4864215" y="2168900"/>
            <a:ext cx="2463603" cy="234949"/>
          </a:xfrm>
          <a:prstGeom prst="rect">
            <a:avLst/>
          </a:prstGeom>
          <a:noFill/>
        </p:spPr>
        <p:txBody>
          <a:bodyPr wrap="none" lIns="0" rIns="0" tIns="0" bIns="0" anchor="ctr">
            <a:noAutofit/>
          </a:bodyPr>
          <a:lstStyle/>
          <a:p>
            <a:pPr algn="l">
              <a:lnSpc>
                <a:spcPts val="1800"/>
              </a:lnSpc>
            </a:pPr>
            <a:r>
              <a:rPr sz="1500" b="0" i="0">
                <a:solidFill>
                  <a:srgbClr val="453F35"/>
                </a:solidFill>
                <a:latin typeface="Montserrat"/>
              </a:rPr>
              <a:t>Prevention · reassessment</a:t>
            </a:r>
          </a:p>
        </p:txBody>
      </p:sp>
      <p:sp>
        <p:nvSpPr>
          <p:cNvPr id="13" name="TextBox 12"/>
          <p:cNvSpPr txBox="1"/>
          <p:nvPr/>
        </p:nvSpPr>
        <p:spPr>
          <a:xfrm>
            <a:off x="5027092" y="2568949"/>
            <a:ext cx="2137659" cy="234949"/>
          </a:xfrm>
          <a:prstGeom prst="rect">
            <a:avLst/>
          </a:prstGeom>
          <a:noFill/>
        </p:spPr>
        <p:txBody>
          <a:bodyPr wrap="none" lIns="0" rIns="0" tIns="0" bIns="0" anchor="ctr">
            <a:noAutofit/>
          </a:bodyPr>
          <a:lstStyle/>
          <a:p>
            <a:pPr algn="l">
              <a:lnSpc>
                <a:spcPts val="1800"/>
              </a:lnSpc>
            </a:pPr>
            <a:r>
              <a:rPr sz="1500" b="1" i="0" spc="360">
                <a:solidFill>
                  <a:srgbClr val="8A6A1C"/>
                </a:solidFill>
                <a:latin typeface="Montserrat"/>
              </a:rPr>
              <a:t>REGENERATION</a:t>
            </a:r>
          </a:p>
        </p:txBody>
      </p:sp>
      <p:sp>
        <p:nvSpPr>
          <p:cNvPr id="14" name="TextBox 13"/>
          <p:cNvSpPr txBox="1"/>
          <p:nvPr/>
        </p:nvSpPr>
        <p:spPr>
          <a:xfrm>
            <a:off x="4704576" y="2841999"/>
            <a:ext cx="2782753" cy="234949"/>
          </a:xfrm>
          <a:prstGeom prst="rect">
            <a:avLst/>
          </a:prstGeom>
          <a:noFill/>
        </p:spPr>
        <p:txBody>
          <a:bodyPr wrap="none" lIns="0" rIns="0" tIns="0" bIns="0" anchor="ctr">
            <a:noAutofit/>
          </a:bodyPr>
          <a:lstStyle/>
          <a:p>
            <a:pPr algn="l">
              <a:lnSpc>
                <a:spcPts val="1800"/>
              </a:lnSpc>
            </a:pPr>
            <a:r>
              <a:rPr sz="1500" b="0" i="0">
                <a:solidFill>
                  <a:srgbClr val="453F35"/>
                </a:solidFill>
                <a:latin typeface="Montserrat"/>
              </a:rPr>
              <a:t>Tissue quality · biostimulation</a:t>
            </a:r>
          </a:p>
        </p:txBody>
      </p:sp>
      <p:sp>
        <p:nvSpPr>
          <p:cNvPr id="15" name="TextBox 14"/>
          <p:cNvSpPr txBox="1"/>
          <p:nvPr/>
        </p:nvSpPr>
        <p:spPr>
          <a:xfrm>
            <a:off x="5297601" y="3242048"/>
            <a:ext cx="1596703" cy="234949"/>
          </a:xfrm>
          <a:prstGeom prst="rect">
            <a:avLst/>
          </a:prstGeom>
          <a:noFill/>
        </p:spPr>
        <p:txBody>
          <a:bodyPr wrap="none" lIns="0" rIns="0" tIns="0" bIns="0" anchor="ctr">
            <a:noAutofit/>
          </a:bodyPr>
          <a:lstStyle/>
          <a:p>
            <a:pPr algn="l">
              <a:lnSpc>
                <a:spcPts val="1800"/>
              </a:lnSpc>
            </a:pPr>
            <a:r>
              <a:rPr sz="1500" b="1" i="0" spc="360">
                <a:solidFill>
                  <a:srgbClr val="8A6A1C"/>
                </a:solidFill>
                <a:latin typeface="Montserrat"/>
              </a:rPr>
              <a:t>STRUCTURE</a:t>
            </a:r>
          </a:p>
        </p:txBody>
      </p:sp>
      <p:sp>
        <p:nvSpPr>
          <p:cNvPr id="16" name="TextBox 15"/>
          <p:cNvSpPr txBox="1"/>
          <p:nvPr/>
        </p:nvSpPr>
        <p:spPr>
          <a:xfrm>
            <a:off x="5111166" y="3515097"/>
            <a:ext cx="1969574" cy="234949"/>
          </a:xfrm>
          <a:prstGeom prst="rect">
            <a:avLst/>
          </a:prstGeom>
          <a:noFill/>
        </p:spPr>
        <p:txBody>
          <a:bodyPr wrap="none" lIns="0" rIns="0" tIns="0" bIns="0" anchor="ctr">
            <a:noAutofit/>
          </a:bodyPr>
          <a:lstStyle/>
          <a:p>
            <a:pPr algn="l">
              <a:lnSpc>
                <a:spcPts val="1800"/>
              </a:lnSpc>
            </a:pPr>
            <a:r>
              <a:rPr sz="1500" b="0" i="0">
                <a:solidFill>
                  <a:srgbClr val="453F35"/>
                </a:solidFill>
                <a:latin typeface="Montserrat"/>
              </a:rPr>
              <a:t>Volume · laxity · scars</a:t>
            </a:r>
          </a:p>
        </p:txBody>
      </p:sp>
      <p:sp>
        <p:nvSpPr>
          <p:cNvPr id="17" name="TextBox 16"/>
          <p:cNvSpPr txBox="1"/>
          <p:nvPr/>
        </p:nvSpPr>
        <p:spPr>
          <a:xfrm>
            <a:off x="5206987" y="3915146"/>
            <a:ext cx="1777995" cy="234949"/>
          </a:xfrm>
          <a:prstGeom prst="rect">
            <a:avLst/>
          </a:prstGeom>
          <a:noFill/>
        </p:spPr>
        <p:txBody>
          <a:bodyPr wrap="none" lIns="0" rIns="0" tIns="0" bIns="0" anchor="ctr">
            <a:noAutofit/>
          </a:bodyPr>
          <a:lstStyle/>
          <a:p>
            <a:pPr algn="l">
              <a:lnSpc>
                <a:spcPts val="1800"/>
              </a:lnSpc>
            </a:pPr>
            <a:r>
              <a:rPr sz="1500" b="1" i="0" spc="360">
                <a:solidFill>
                  <a:srgbClr val="8A6A1C"/>
                </a:solidFill>
                <a:latin typeface="Montserrat"/>
              </a:rPr>
              <a:t>CORRECTION</a:t>
            </a:r>
          </a:p>
        </p:txBody>
      </p:sp>
      <p:sp>
        <p:nvSpPr>
          <p:cNvPr id="18" name="TextBox 17"/>
          <p:cNvSpPr txBox="1"/>
          <p:nvPr/>
        </p:nvSpPr>
        <p:spPr>
          <a:xfrm>
            <a:off x="5016487" y="4188195"/>
            <a:ext cx="2158995" cy="234949"/>
          </a:xfrm>
          <a:prstGeom prst="rect">
            <a:avLst/>
          </a:prstGeom>
          <a:noFill/>
        </p:spPr>
        <p:txBody>
          <a:bodyPr wrap="none" lIns="0" rIns="0" tIns="0" bIns="0" anchor="ctr">
            <a:noAutofit/>
          </a:bodyPr>
          <a:lstStyle/>
          <a:p>
            <a:pPr algn="l">
              <a:lnSpc>
                <a:spcPts val="1800"/>
              </a:lnSpc>
            </a:pPr>
            <a:r>
              <a:rPr sz="1500" b="0" i="0">
                <a:solidFill>
                  <a:srgbClr val="453F35"/>
                </a:solidFill>
                <a:latin typeface="Montserrat"/>
              </a:rPr>
              <a:t>Pigment · texture · hair</a:t>
            </a:r>
          </a:p>
        </p:txBody>
      </p:sp>
      <p:sp>
        <p:nvSpPr>
          <p:cNvPr id="19" name="TextBox 18"/>
          <p:cNvSpPr txBox="1"/>
          <p:nvPr/>
        </p:nvSpPr>
        <p:spPr>
          <a:xfrm>
            <a:off x="5184063" y="4588244"/>
            <a:ext cx="1823715" cy="234949"/>
          </a:xfrm>
          <a:prstGeom prst="rect">
            <a:avLst/>
          </a:prstGeom>
          <a:noFill/>
        </p:spPr>
        <p:txBody>
          <a:bodyPr wrap="none" lIns="0" rIns="0" tIns="0" bIns="0" anchor="ctr">
            <a:noAutofit/>
          </a:bodyPr>
          <a:lstStyle/>
          <a:p>
            <a:pPr algn="l">
              <a:lnSpc>
                <a:spcPts val="1800"/>
              </a:lnSpc>
            </a:pPr>
            <a:r>
              <a:rPr sz="1500" b="1" i="0" spc="360">
                <a:solidFill>
                  <a:srgbClr val="8A6A1C"/>
                </a:solidFill>
                <a:latin typeface="Montserrat"/>
              </a:rPr>
              <a:t>FOUNDATION</a:t>
            </a:r>
          </a:p>
        </p:txBody>
      </p:sp>
      <p:sp>
        <p:nvSpPr>
          <p:cNvPr id="20" name="TextBox 19"/>
          <p:cNvSpPr txBox="1"/>
          <p:nvPr/>
        </p:nvSpPr>
        <p:spPr>
          <a:xfrm>
            <a:off x="4655618" y="4861294"/>
            <a:ext cx="2880734" cy="234949"/>
          </a:xfrm>
          <a:prstGeom prst="rect">
            <a:avLst/>
          </a:prstGeom>
          <a:noFill/>
        </p:spPr>
        <p:txBody>
          <a:bodyPr wrap="none" lIns="0" rIns="0" tIns="0" bIns="0" anchor="ctr">
            <a:noAutofit/>
          </a:bodyPr>
          <a:lstStyle/>
          <a:p>
            <a:pPr algn="l">
              <a:lnSpc>
                <a:spcPts val="1800"/>
              </a:lnSpc>
            </a:pPr>
            <a:r>
              <a:rPr sz="1500" b="0" i="0">
                <a:solidFill>
                  <a:srgbClr val="453F35"/>
                </a:solidFill>
                <a:latin typeface="Montserrat"/>
              </a:rPr>
              <a:t>Barrier · inflammation · friction</a:t>
            </a:r>
          </a:p>
        </p:txBody>
      </p:sp>
      <p:sp>
        <p:nvSpPr>
          <p:cNvPr id="21" name="TextBox 20"/>
          <p:cNvSpPr txBox="1"/>
          <p:nvPr/>
        </p:nvSpPr>
        <p:spPr>
          <a:xfrm>
            <a:off x="3139686" y="5502642"/>
            <a:ext cx="5912660" cy="396175"/>
          </a:xfrm>
          <a:prstGeom prst="rect">
            <a:avLst/>
          </a:prstGeom>
          <a:noFill/>
        </p:spPr>
        <p:txBody>
          <a:bodyPr wrap="none" lIns="0" rIns="0" tIns="0" bIns="0" anchor="ctr">
            <a:noAutofit/>
          </a:bodyPr>
          <a:lstStyle/>
          <a:p>
            <a:pPr algn="l">
              <a:lnSpc>
                <a:spcPts val="3120"/>
              </a:lnSpc>
            </a:pPr>
            <a:r>
              <a:rPr sz="2600" b="0" i="1">
                <a:solidFill>
                  <a:srgbClr val="8A6A1C"/>
                </a:solidFill>
                <a:latin typeface="Cormorant Garamond"/>
              </a:rPr>
              <a:t>An inflamed foundation cannot support escalation.</a:t>
            </a:r>
          </a:p>
        </p:txBody>
      </p:sp>
      <p:sp>
        <p:nvSpPr>
          <p:cNvPr id="22" name="TextBox 21"/>
          <p:cNvSpPr txBox="1"/>
          <p:nvPr/>
        </p:nvSpPr>
        <p:spPr>
          <a:xfrm>
            <a:off x="812798" y="6270609"/>
            <a:ext cx="6890748" cy="6350"/>
          </a:xfrm>
          <a:prstGeom prst="rect">
            <a:avLst/>
          </a:prstGeom>
          <a:noFill/>
        </p:spPr>
        <p:txBody>
          <a:bodyPr wrap="none" lIns="0" rIns="0" tIns="0" bIns="0" anchor="ctr">
            <a:noAutofit/>
          </a:bodyPr>
          <a:lstStyle/>
          <a:p>
            <a:pPr algn="l">
              <a:lnSpc>
                <a:spcPts val="1439"/>
              </a:lnSpc>
            </a:pPr>
          </a:p>
        </p:txBody>
      </p:sp>
      <p:sp>
        <p:nvSpPr>
          <p:cNvPr id="23" name="TextBox 22"/>
          <p:cNvSpPr txBox="1"/>
          <p:nvPr/>
        </p:nvSpPr>
        <p:spPr>
          <a:xfrm>
            <a:off x="8046446" y="6184884"/>
            <a:ext cx="2822250" cy="171450"/>
          </a:xfrm>
          <a:prstGeom prst="rect">
            <a:avLst/>
          </a:prstGeom>
          <a:noFill/>
        </p:spPr>
        <p:txBody>
          <a:bodyPr wrap="none" lIns="0" rIns="0" tIns="0" bIns="0" anchor="ctr">
            <a:noAutofit/>
          </a:bodyPr>
          <a:lstStyle/>
          <a:p>
            <a:pPr algn="l">
              <a:lnSpc>
                <a:spcPts val="1260"/>
              </a:lnSpc>
            </a:pPr>
            <a:r>
              <a:rPr sz="1050" b="1" i="0" spc="189">
                <a:solidFill>
                  <a:srgbClr val="8A6A1C"/>
                </a:solidFill>
                <a:latin typeface="Montserrat"/>
              </a:rPr>
              <a:t>EXPERT CLINICAL FRAMEWORK</a:t>
            </a:r>
          </a:p>
        </p:txBody>
      </p:sp>
      <p:sp>
        <p:nvSpPr>
          <p:cNvPr id="24" name="TextBox 23"/>
          <p:cNvSpPr txBox="1"/>
          <p:nvPr/>
        </p:nvSpPr>
        <p:spPr>
          <a:xfrm>
            <a:off x="11211595" y="6162659"/>
            <a:ext cx="167576" cy="215899"/>
          </a:xfrm>
          <a:prstGeom prst="rect">
            <a:avLst/>
          </a:prstGeom>
          <a:noFill/>
        </p:spPr>
        <p:txBody>
          <a:bodyPr wrap="none" lIns="0" rIns="0" tIns="0" bIns="0" anchor="ctr">
            <a:noAutofit/>
          </a:bodyPr>
          <a:lstStyle/>
          <a:p>
            <a:pPr algn="l">
              <a:lnSpc>
                <a:spcPts val="1680"/>
              </a:lnSpc>
            </a:pPr>
            <a:r>
              <a:rPr sz="1400" b="0" i="0">
                <a:solidFill>
                  <a:srgbClr val="7C7365"/>
                </a:solidFill>
                <a:latin typeface="Cormorant Garamond"/>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Rectangle 1"/>
          <p:cNvSpPr/>
          <p:nvPr/>
        </p:nvSpPr>
        <p:spPr>
          <a:xfrm>
            <a:off x="812798" y="1628898"/>
            <a:ext cx="609598" cy="6350"/>
          </a:xfrm>
          <a:prstGeom prst="rect">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Rectangle 2"/>
          <p:cNvSpPr/>
          <p:nvPr/>
        </p:nvSpPr>
        <p:spPr>
          <a:xfrm>
            <a:off x="812798" y="2226876"/>
            <a:ext cx="1679571" cy="1260789"/>
          </a:xfrm>
          <a:prstGeom prst="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4" name="Connector 3"/>
          <p:cNvCxnSpPr/>
          <p:nvPr/>
        </p:nvCxnSpPr>
        <p:spPr>
          <a:xfrm>
            <a:off x="812798" y="2226876"/>
            <a:ext cx="0" cy="1260789"/>
          </a:xfrm>
          <a:prstGeom prst="line">
            <a:avLst/>
          </a:prstGeom>
          <a:ln w="19050">
            <a:solidFill>
              <a:srgbClr val="C6A24E"/>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568568" y="2226876"/>
            <a:ext cx="1679571" cy="1260789"/>
          </a:xfrm>
          <a:prstGeom prst="rect">
            <a:avLst/>
          </a:prstGeom>
          <a:solidFill>
            <a:srgbClr val="F1E7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6" name="Connector 5"/>
          <p:cNvCxnSpPr/>
          <p:nvPr/>
        </p:nvCxnSpPr>
        <p:spPr>
          <a:xfrm>
            <a:off x="2568568" y="2226876"/>
            <a:ext cx="0" cy="1260789"/>
          </a:xfrm>
          <a:prstGeom prst="line">
            <a:avLst/>
          </a:prstGeom>
          <a:ln w="19050">
            <a:solidFill>
              <a:srgbClr val="C6A24E"/>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324339" y="2226876"/>
            <a:ext cx="1679571" cy="1260789"/>
          </a:xfrm>
          <a:prstGeom prst="rect">
            <a:avLst/>
          </a:prstGeom>
          <a:solidFill>
            <a:srgbClr val="EDE1C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8" name="Connector 7"/>
          <p:cNvCxnSpPr/>
          <p:nvPr/>
        </p:nvCxnSpPr>
        <p:spPr>
          <a:xfrm>
            <a:off x="4324339" y="2226876"/>
            <a:ext cx="0" cy="1260789"/>
          </a:xfrm>
          <a:prstGeom prst="line">
            <a:avLst/>
          </a:prstGeom>
          <a:ln w="19050">
            <a:solidFill>
              <a:srgbClr val="C6A24E"/>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6080110" y="2226876"/>
            <a:ext cx="1787393" cy="1260789"/>
          </a:xfrm>
          <a:prstGeom prst="rect">
            <a:avLst/>
          </a:prstGeom>
          <a:solidFill>
            <a:srgbClr val="E9D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0" name="Connector 9"/>
          <p:cNvCxnSpPr/>
          <p:nvPr/>
        </p:nvCxnSpPr>
        <p:spPr>
          <a:xfrm>
            <a:off x="6080110" y="2226876"/>
            <a:ext cx="0" cy="1260789"/>
          </a:xfrm>
          <a:prstGeom prst="line">
            <a:avLst/>
          </a:prstGeom>
          <a:ln w="19050">
            <a:solidFill>
              <a:srgbClr val="C6A24E"/>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943703" y="2226876"/>
            <a:ext cx="1679571" cy="1260789"/>
          </a:xfrm>
          <a:prstGeom prst="rect">
            <a:avLst/>
          </a:prstGeom>
          <a:solidFill>
            <a:srgbClr val="E4D5B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2" name="Connector 11"/>
          <p:cNvCxnSpPr/>
          <p:nvPr/>
        </p:nvCxnSpPr>
        <p:spPr>
          <a:xfrm>
            <a:off x="7943703" y="2226876"/>
            <a:ext cx="0" cy="1260789"/>
          </a:xfrm>
          <a:prstGeom prst="line">
            <a:avLst/>
          </a:prstGeom>
          <a:ln w="19050">
            <a:solidFill>
              <a:srgbClr val="C6A24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699473" y="2226876"/>
            <a:ext cx="1679571" cy="1260789"/>
          </a:xfrm>
          <a:prstGeom prst="rect">
            <a:avLst/>
          </a:prstGeom>
          <a:solidFill>
            <a:srgbClr val="DCCBA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4" name="Connector 13"/>
          <p:cNvCxnSpPr/>
          <p:nvPr/>
        </p:nvCxnSpPr>
        <p:spPr>
          <a:xfrm>
            <a:off x="9699473" y="2226876"/>
            <a:ext cx="0" cy="1260789"/>
          </a:xfrm>
          <a:prstGeom prst="line">
            <a:avLst/>
          </a:prstGeom>
          <a:ln w="19050">
            <a:solidFill>
              <a:srgbClr val="C6A24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12798" y="3767001"/>
            <a:ext cx="2536819" cy="1145474"/>
          </a:xfrm>
          <a:prstGeom prst="roundRect">
            <a:avLst>
              <a:gd name="adj" fmla="val 6652"/>
            </a:avLst>
          </a:prstGeom>
          <a:noFill/>
          <a:ln w="6350">
            <a:solidFill>
              <a:srgbClr val="E4D5A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Rounded Rectangle 15"/>
          <p:cNvSpPr/>
          <p:nvPr/>
        </p:nvSpPr>
        <p:spPr>
          <a:xfrm>
            <a:off x="3489316" y="3767001"/>
            <a:ext cx="2536819" cy="1145474"/>
          </a:xfrm>
          <a:prstGeom prst="roundRect">
            <a:avLst>
              <a:gd name="adj" fmla="val 6652"/>
            </a:avLst>
          </a:prstGeom>
          <a:noFill/>
          <a:ln w="6350">
            <a:solidFill>
              <a:srgbClr val="E4D5A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ounded Rectangle 16"/>
          <p:cNvSpPr/>
          <p:nvPr/>
        </p:nvSpPr>
        <p:spPr>
          <a:xfrm>
            <a:off x="6165834" y="3767001"/>
            <a:ext cx="2536819" cy="1145474"/>
          </a:xfrm>
          <a:prstGeom prst="roundRect">
            <a:avLst>
              <a:gd name="adj" fmla="val 6652"/>
            </a:avLst>
          </a:prstGeom>
          <a:noFill/>
          <a:ln w="6350">
            <a:solidFill>
              <a:srgbClr val="E4D5A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Rounded Rectangle 17"/>
          <p:cNvSpPr/>
          <p:nvPr/>
        </p:nvSpPr>
        <p:spPr>
          <a:xfrm>
            <a:off x="8842353" y="3767001"/>
            <a:ext cx="2536819" cy="1145474"/>
          </a:xfrm>
          <a:prstGeom prst="roundRect">
            <a:avLst>
              <a:gd name="adj" fmla="val 6652"/>
            </a:avLst>
          </a:prstGeom>
          <a:noFill/>
          <a:ln w="6350">
            <a:solidFill>
              <a:srgbClr val="E4D5A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9" name="Connector 18"/>
          <p:cNvCxnSpPr/>
          <p:nvPr/>
        </p:nvCxnSpPr>
        <p:spPr>
          <a:xfrm>
            <a:off x="812798" y="5994385"/>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12798" y="558799"/>
            <a:ext cx="10566373" cy="203199"/>
          </a:xfrm>
          <a:prstGeom prst="rect">
            <a:avLst/>
          </a:prstGeom>
          <a:noFill/>
        </p:spPr>
        <p:txBody>
          <a:bodyPr wrap="none" lIns="0" rIns="0" tIns="0" bIns="0" anchor="ctr">
            <a:noAutofit/>
          </a:bodyPr>
          <a:lstStyle/>
          <a:p>
            <a:pPr algn="l">
              <a:lnSpc>
                <a:spcPts val="1560"/>
              </a:lnSpc>
            </a:pPr>
            <a:r>
              <a:rPr sz="1300" b="1" i="0" spc="416">
                <a:solidFill>
                  <a:srgbClr val="8A6A1C"/>
                </a:solidFill>
                <a:latin typeface="Montserrat"/>
              </a:rPr>
              <a:t>TISSUE REGENERATION · BIOSTIMULATION · ECM REMODELLING</a:t>
            </a:r>
          </a:p>
        </p:txBody>
      </p:sp>
      <p:sp>
        <p:nvSpPr>
          <p:cNvPr id="21" name="TextBox 20"/>
          <p:cNvSpPr txBox="1"/>
          <p:nvPr/>
        </p:nvSpPr>
        <p:spPr>
          <a:xfrm>
            <a:off x="812798" y="888998"/>
            <a:ext cx="10566373" cy="549401"/>
          </a:xfrm>
          <a:prstGeom prst="rect">
            <a:avLst/>
          </a:prstGeom>
          <a:noFill/>
        </p:spPr>
        <p:txBody>
          <a:bodyPr wrap="none" lIns="0" rIns="0" tIns="0" bIns="0" anchor="ctr">
            <a:noAutofit/>
          </a:bodyPr>
          <a:lstStyle/>
          <a:p>
            <a:pPr algn="l">
              <a:lnSpc>
                <a:spcPts val="4326"/>
              </a:lnSpc>
            </a:pPr>
            <a:r>
              <a:rPr sz="4200" b="1" i="0" spc="17">
                <a:solidFill>
                  <a:srgbClr val="2E2B26"/>
                </a:solidFill>
                <a:latin typeface="Cormorant Garamond"/>
              </a:rPr>
              <a:t>The cascade, not the product</a:t>
            </a:r>
          </a:p>
        </p:txBody>
      </p:sp>
      <p:sp>
        <p:nvSpPr>
          <p:cNvPr id="22" name="TextBox 21"/>
          <p:cNvSpPr txBox="1"/>
          <p:nvPr/>
        </p:nvSpPr>
        <p:spPr>
          <a:xfrm>
            <a:off x="958848" y="2442775"/>
            <a:ext cx="1387471" cy="1105342"/>
          </a:xfrm>
          <a:prstGeom prst="rect">
            <a:avLst/>
          </a:prstGeom>
          <a:noFill/>
        </p:spPr>
        <p:txBody>
          <a:bodyPr wrap="square" lIns="0" rIns="0" tIns="0" bIns="0" anchor="t">
            <a:noAutofit/>
          </a:bodyPr>
          <a:lstStyle/>
          <a:p>
            <a:pPr algn="l">
              <a:lnSpc>
                <a:spcPts val="2176"/>
              </a:lnSpc>
            </a:pPr>
            <a:r>
              <a:rPr sz="1700" b="0" i="0">
                <a:solidFill>
                  <a:srgbClr val="453F35"/>
                </a:solidFill>
                <a:latin typeface="Montserrat"/>
              </a:rPr>
              <a:t>Stimulus</a:t>
            </a:r>
          </a:p>
        </p:txBody>
      </p:sp>
      <p:sp>
        <p:nvSpPr>
          <p:cNvPr id="23" name="TextBox 22"/>
          <p:cNvSpPr txBox="1"/>
          <p:nvPr/>
        </p:nvSpPr>
        <p:spPr>
          <a:xfrm>
            <a:off x="2714618" y="2442775"/>
            <a:ext cx="1387471" cy="1105342"/>
          </a:xfrm>
          <a:prstGeom prst="rect">
            <a:avLst/>
          </a:prstGeom>
          <a:noFill/>
        </p:spPr>
        <p:txBody>
          <a:bodyPr wrap="square" lIns="0" rIns="0" tIns="0" bIns="0" anchor="t">
            <a:noAutofit/>
          </a:bodyPr>
          <a:lstStyle/>
          <a:p>
            <a:pPr algn="l">
              <a:lnSpc>
                <a:spcPts val="2176"/>
              </a:lnSpc>
            </a:pPr>
            <a:r>
              <a:rPr sz="1700" b="0" i="0">
                <a:solidFill>
                  <a:srgbClr val="453F35"/>
                </a:solidFill>
                <a:latin typeface="Montserrat"/>
              </a:rPr>
              <a:t>Cellular signalling</a:t>
            </a:r>
          </a:p>
        </p:txBody>
      </p:sp>
      <p:sp>
        <p:nvSpPr>
          <p:cNvPr id="24" name="TextBox 23"/>
          <p:cNvSpPr txBox="1"/>
          <p:nvPr/>
        </p:nvSpPr>
        <p:spPr>
          <a:xfrm>
            <a:off x="4470389" y="2442775"/>
            <a:ext cx="1387471" cy="1105342"/>
          </a:xfrm>
          <a:prstGeom prst="rect">
            <a:avLst/>
          </a:prstGeom>
          <a:noFill/>
        </p:spPr>
        <p:txBody>
          <a:bodyPr wrap="square" lIns="0" rIns="0" tIns="0" bIns="0" anchor="t">
            <a:noAutofit/>
          </a:bodyPr>
          <a:lstStyle/>
          <a:p>
            <a:pPr algn="l">
              <a:lnSpc>
                <a:spcPts val="2176"/>
              </a:lnSpc>
            </a:pPr>
            <a:r>
              <a:rPr sz="1700" b="0" i="0">
                <a:solidFill>
                  <a:srgbClr val="453F35"/>
                </a:solidFill>
                <a:latin typeface="Montserrat"/>
              </a:rPr>
              <a:t>Fibroblast activity</a:t>
            </a:r>
          </a:p>
        </p:txBody>
      </p:sp>
      <p:sp>
        <p:nvSpPr>
          <p:cNvPr id="25" name="TextBox 24"/>
          <p:cNvSpPr txBox="1"/>
          <p:nvPr/>
        </p:nvSpPr>
        <p:spPr>
          <a:xfrm>
            <a:off x="6226159" y="2442775"/>
            <a:ext cx="1495294" cy="1105342"/>
          </a:xfrm>
          <a:prstGeom prst="rect">
            <a:avLst/>
          </a:prstGeom>
          <a:noFill/>
        </p:spPr>
        <p:txBody>
          <a:bodyPr wrap="square" lIns="0" rIns="0" tIns="0" bIns="0" anchor="t">
            <a:noAutofit/>
          </a:bodyPr>
          <a:lstStyle/>
          <a:p>
            <a:pPr algn="l">
              <a:lnSpc>
                <a:spcPts val="2176"/>
              </a:lnSpc>
            </a:pPr>
            <a:r>
              <a:rPr sz="1700" b="0" i="0">
                <a:solidFill>
                  <a:srgbClr val="453F35"/>
                </a:solidFill>
                <a:latin typeface="Montserrat"/>
              </a:rPr>
              <a:t>Extracellular-matrix remodelling</a:t>
            </a:r>
          </a:p>
        </p:txBody>
      </p:sp>
      <p:sp>
        <p:nvSpPr>
          <p:cNvPr id="26" name="TextBox 25"/>
          <p:cNvSpPr txBox="1"/>
          <p:nvPr/>
        </p:nvSpPr>
        <p:spPr>
          <a:xfrm>
            <a:off x="8089752" y="2442775"/>
            <a:ext cx="1387471" cy="1105342"/>
          </a:xfrm>
          <a:prstGeom prst="rect">
            <a:avLst/>
          </a:prstGeom>
          <a:noFill/>
        </p:spPr>
        <p:txBody>
          <a:bodyPr wrap="square" lIns="0" rIns="0" tIns="0" bIns="0" anchor="t">
            <a:noAutofit/>
          </a:bodyPr>
          <a:lstStyle/>
          <a:p>
            <a:pPr algn="l">
              <a:lnSpc>
                <a:spcPts val="2176"/>
              </a:lnSpc>
            </a:pPr>
            <a:r>
              <a:rPr sz="1700" b="0" i="0">
                <a:solidFill>
                  <a:srgbClr val="453F35"/>
                </a:solidFill>
                <a:latin typeface="Montserrat"/>
              </a:rPr>
              <a:t>Collagen and elastin synthesis</a:t>
            </a:r>
          </a:p>
        </p:txBody>
      </p:sp>
      <p:sp>
        <p:nvSpPr>
          <p:cNvPr id="27" name="TextBox 26"/>
          <p:cNvSpPr txBox="1"/>
          <p:nvPr/>
        </p:nvSpPr>
        <p:spPr>
          <a:xfrm>
            <a:off x="9845523" y="2442775"/>
            <a:ext cx="1387471" cy="1105342"/>
          </a:xfrm>
          <a:prstGeom prst="rect">
            <a:avLst/>
          </a:prstGeom>
          <a:noFill/>
        </p:spPr>
        <p:txBody>
          <a:bodyPr wrap="square" lIns="0" rIns="0" tIns="0" bIns="0" anchor="t">
            <a:noAutofit/>
          </a:bodyPr>
          <a:lstStyle/>
          <a:p>
            <a:pPr algn="l">
              <a:lnSpc>
                <a:spcPts val="2176"/>
              </a:lnSpc>
            </a:pPr>
            <a:r>
              <a:rPr sz="1700" b="0" i="0">
                <a:solidFill>
                  <a:srgbClr val="453F35"/>
                </a:solidFill>
                <a:latin typeface="Montserrat"/>
              </a:rPr>
              <a:t>Improved tissue quality</a:t>
            </a:r>
          </a:p>
        </p:txBody>
      </p:sp>
      <p:sp>
        <p:nvSpPr>
          <p:cNvPr id="28" name="TextBox 27"/>
          <p:cNvSpPr txBox="1"/>
          <p:nvPr/>
        </p:nvSpPr>
        <p:spPr>
          <a:xfrm>
            <a:off x="971548" y="3938450"/>
            <a:ext cx="2219319" cy="214629"/>
          </a:xfrm>
          <a:prstGeom prst="rect">
            <a:avLst/>
          </a:prstGeom>
          <a:noFill/>
        </p:spPr>
        <p:txBody>
          <a:bodyPr wrap="none" lIns="0" rIns="0" tIns="0" bIns="0" anchor="ctr">
            <a:noAutofit/>
          </a:bodyPr>
          <a:lstStyle/>
          <a:p>
            <a:pPr algn="ctr">
              <a:lnSpc>
                <a:spcPts val="1689"/>
              </a:lnSpc>
            </a:pPr>
            <a:r>
              <a:rPr sz="1300" b="1" i="0" spc="234">
                <a:solidFill>
                  <a:srgbClr val="8A6A1C"/>
                </a:solidFill>
                <a:latin typeface="Montserrat"/>
              </a:rPr>
              <a:t>AUTOLOGOUS</a:t>
            </a:r>
          </a:p>
        </p:txBody>
      </p:sp>
      <p:sp>
        <p:nvSpPr>
          <p:cNvPr id="29" name="TextBox 28"/>
          <p:cNvSpPr txBox="1"/>
          <p:nvPr/>
        </p:nvSpPr>
        <p:spPr>
          <a:xfrm>
            <a:off x="1002599" y="4235630"/>
            <a:ext cx="2157217" cy="753108"/>
          </a:xfrm>
          <a:prstGeom prst="rect">
            <a:avLst/>
          </a:prstGeom>
          <a:noFill/>
        </p:spPr>
        <p:txBody>
          <a:bodyPr wrap="square" lIns="0" rIns="0" tIns="0" bIns="0" anchor="t">
            <a:noAutofit/>
          </a:bodyPr>
          <a:lstStyle/>
          <a:p>
            <a:pPr algn="ctr">
              <a:lnSpc>
                <a:spcPts val="2014"/>
              </a:lnSpc>
            </a:pPr>
            <a:r>
              <a:rPr sz="1550" b="0" i="0">
                <a:solidFill>
                  <a:srgbClr val="453F35"/>
                </a:solidFill>
                <a:latin typeface="Montserrat"/>
              </a:rPr>
              <a:t>Platelet concentrates (PRP / PRF)</a:t>
            </a:r>
          </a:p>
        </p:txBody>
      </p:sp>
      <p:sp>
        <p:nvSpPr>
          <p:cNvPr id="30" name="TextBox 29"/>
          <p:cNvSpPr txBox="1"/>
          <p:nvPr/>
        </p:nvSpPr>
        <p:spPr>
          <a:xfrm>
            <a:off x="3648066" y="3938450"/>
            <a:ext cx="2219319" cy="214629"/>
          </a:xfrm>
          <a:prstGeom prst="rect">
            <a:avLst/>
          </a:prstGeom>
          <a:noFill/>
        </p:spPr>
        <p:txBody>
          <a:bodyPr wrap="none" lIns="0" rIns="0" tIns="0" bIns="0" anchor="ctr">
            <a:noAutofit/>
          </a:bodyPr>
          <a:lstStyle/>
          <a:p>
            <a:pPr algn="ctr">
              <a:lnSpc>
                <a:spcPts val="1689"/>
              </a:lnSpc>
            </a:pPr>
            <a:r>
              <a:rPr sz="1300" b="1" i="0" spc="234">
                <a:solidFill>
                  <a:srgbClr val="8A6A1C"/>
                </a:solidFill>
                <a:latin typeface="Montserrat"/>
              </a:rPr>
              <a:t>NUCLEOTIDE</a:t>
            </a:r>
          </a:p>
        </p:txBody>
      </p:sp>
      <p:sp>
        <p:nvSpPr>
          <p:cNvPr id="31" name="TextBox 30"/>
          <p:cNvSpPr txBox="1"/>
          <p:nvPr/>
        </p:nvSpPr>
        <p:spPr>
          <a:xfrm>
            <a:off x="3673148" y="4235630"/>
            <a:ext cx="2169027" cy="753108"/>
          </a:xfrm>
          <a:prstGeom prst="rect">
            <a:avLst/>
          </a:prstGeom>
          <a:noFill/>
        </p:spPr>
        <p:txBody>
          <a:bodyPr wrap="square" lIns="0" rIns="0" tIns="0" bIns="0" anchor="t">
            <a:noAutofit/>
          </a:bodyPr>
          <a:lstStyle/>
          <a:p>
            <a:pPr algn="ctr">
              <a:lnSpc>
                <a:spcPts val="2014"/>
              </a:lnSpc>
            </a:pPr>
            <a:r>
              <a:rPr sz="1550" b="0" i="0">
                <a:solidFill>
                  <a:srgbClr val="453F35"/>
                </a:solidFill>
                <a:latin typeface="Montserrat"/>
              </a:rPr>
              <a:t>Polynucleotides (PN / PDRN)</a:t>
            </a:r>
          </a:p>
        </p:txBody>
      </p:sp>
      <p:sp>
        <p:nvSpPr>
          <p:cNvPr id="32" name="TextBox 31"/>
          <p:cNvSpPr txBox="1"/>
          <p:nvPr/>
        </p:nvSpPr>
        <p:spPr>
          <a:xfrm>
            <a:off x="6324584" y="3938450"/>
            <a:ext cx="2219319" cy="214629"/>
          </a:xfrm>
          <a:prstGeom prst="rect">
            <a:avLst/>
          </a:prstGeom>
          <a:noFill/>
        </p:spPr>
        <p:txBody>
          <a:bodyPr wrap="none" lIns="0" rIns="0" tIns="0" bIns="0" anchor="ctr">
            <a:noAutofit/>
          </a:bodyPr>
          <a:lstStyle/>
          <a:p>
            <a:pPr algn="ctr">
              <a:lnSpc>
                <a:spcPts val="1689"/>
              </a:lnSpc>
            </a:pPr>
            <a:r>
              <a:rPr sz="1300" b="1" i="0" spc="234">
                <a:solidFill>
                  <a:srgbClr val="8A6A1C"/>
                </a:solidFill>
                <a:latin typeface="Montserrat"/>
              </a:rPr>
              <a:t>SCAFFOLD</a:t>
            </a:r>
          </a:p>
        </p:txBody>
      </p:sp>
      <p:sp>
        <p:nvSpPr>
          <p:cNvPr id="33" name="TextBox 32"/>
          <p:cNvSpPr txBox="1"/>
          <p:nvPr/>
        </p:nvSpPr>
        <p:spPr>
          <a:xfrm>
            <a:off x="6629193" y="4235630"/>
            <a:ext cx="1610102" cy="753108"/>
          </a:xfrm>
          <a:prstGeom prst="rect">
            <a:avLst/>
          </a:prstGeom>
          <a:noFill/>
        </p:spPr>
        <p:txBody>
          <a:bodyPr wrap="square" lIns="0" rIns="0" tIns="0" bIns="0" anchor="t">
            <a:noAutofit/>
          </a:bodyPr>
          <a:lstStyle/>
          <a:p>
            <a:pPr algn="ctr">
              <a:lnSpc>
                <a:spcPts val="2014"/>
              </a:lnSpc>
            </a:pPr>
            <a:r>
              <a:rPr sz="1550" b="0" i="0">
                <a:solidFill>
                  <a:srgbClr val="453F35"/>
                </a:solidFill>
                <a:latin typeface="Montserrat"/>
              </a:rPr>
              <a:t>Hyaluronic-acid biostimulation</a:t>
            </a:r>
          </a:p>
        </p:txBody>
      </p:sp>
      <p:sp>
        <p:nvSpPr>
          <p:cNvPr id="34" name="TextBox 33"/>
          <p:cNvSpPr txBox="1"/>
          <p:nvPr/>
        </p:nvSpPr>
        <p:spPr>
          <a:xfrm>
            <a:off x="9001102" y="3938450"/>
            <a:ext cx="2219319" cy="214629"/>
          </a:xfrm>
          <a:prstGeom prst="rect">
            <a:avLst/>
          </a:prstGeom>
          <a:noFill/>
        </p:spPr>
        <p:txBody>
          <a:bodyPr wrap="none" lIns="0" rIns="0" tIns="0" bIns="0" anchor="ctr">
            <a:noAutofit/>
          </a:bodyPr>
          <a:lstStyle/>
          <a:p>
            <a:pPr algn="ctr">
              <a:lnSpc>
                <a:spcPts val="1689"/>
              </a:lnSpc>
            </a:pPr>
            <a:r>
              <a:rPr sz="1300" b="1" i="0" spc="234">
                <a:solidFill>
                  <a:srgbClr val="8A6A1C"/>
                </a:solidFill>
                <a:latin typeface="Montserrat"/>
              </a:rPr>
              <a:t>STIMULATOR</a:t>
            </a:r>
          </a:p>
        </p:txBody>
      </p:sp>
      <p:sp>
        <p:nvSpPr>
          <p:cNvPr id="35" name="TextBox 34"/>
          <p:cNvSpPr txBox="1"/>
          <p:nvPr/>
        </p:nvSpPr>
        <p:spPr>
          <a:xfrm>
            <a:off x="9037742" y="4235630"/>
            <a:ext cx="2146104" cy="753108"/>
          </a:xfrm>
          <a:prstGeom prst="rect">
            <a:avLst/>
          </a:prstGeom>
          <a:noFill/>
        </p:spPr>
        <p:txBody>
          <a:bodyPr wrap="square" lIns="0" rIns="0" tIns="0" bIns="0" anchor="t">
            <a:noAutofit/>
          </a:bodyPr>
          <a:lstStyle/>
          <a:p>
            <a:pPr algn="ctr">
              <a:lnSpc>
                <a:spcPts val="2014"/>
              </a:lnSpc>
            </a:pPr>
            <a:r>
              <a:rPr sz="1550" b="0" i="0">
                <a:solidFill>
                  <a:srgbClr val="453F35"/>
                </a:solidFill>
                <a:latin typeface="Montserrat"/>
              </a:rPr>
              <a:t>Collagen-stimulating injectables</a:t>
            </a:r>
          </a:p>
        </p:txBody>
      </p:sp>
      <p:sp>
        <p:nvSpPr>
          <p:cNvPr id="36" name="TextBox 35"/>
          <p:cNvSpPr txBox="1"/>
          <p:nvPr/>
        </p:nvSpPr>
        <p:spPr>
          <a:xfrm>
            <a:off x="3498460" y="5191937"/>
            <a:ext cx="5195112" cy="350456"/>
          </a:xfrm>
          <a:prstGeom prst="rect">
            <a:avLst/>
          </a:prstGeom>
          <a:noFill/>
        </p:spPr>
        <p:txBody>
          <a:bodyPr wrap="none" lIns="0" rIns="0" tIns="0" bIns="0" anchor="ctr">
            <a:noAutofit/>
          </a:bodyPr>
          <a:lstStyle/>
          <a:p>
            <a:pPr algn="l">
              <a:lnSpc>
                <a:spcPts val="2760"/>
              </a:lnSpc>
            </a:pPr>
            <a:r>
              <a:rPr sz="2300" b="0" i="1">
                <a:solidFill>
                  <a:srgbClr val="8A6A1C"/>
                </a:solidFill>
                <a:latin typeface="Cormorant Garamond"/>
              </a:rPr>
              <a:t>Evidence varies by indication and anatomical site.</a:t>
            </a:r>
          </a:p>
        </p:txBody>
      </p:sp>
      <p:sp>
        <p:nvSpPr>
          <p:cNvPr id="37" name="TextBox 36"/>
          <p:cNvSpPr txBox="1"/>
          <p:nvPr/>
        </p:nvSpPr>
        <p:spPr>
          <a:xfrm>
            <a:off x="812798" y="6178534"/>
            <a:ext cx="7800765" cy="184150"/>
          </a:xfrm>
          <a:prstGeom prst="rect">
            <a:avLst/>
          </a:prstGeom>
          <a:noFill/>
        </p:spPr>
        <p:txBody>
          <a:bodyPr wrap="none" lIns="0" rIns="0" tIns="0" bIns="0" anchor="ctr">
            <a:noAutofit/>
          </a:bodyPr>
          <a:lstStyle/>
          <a:p>
            <a:pPr algn="l">
              <a:lnSpc>
                <a:spcPts val="1439"/>
              </a:lnSpc>
            </a:pPr>
            <a:r>
              <a:rPr sz="1200" b="0" i="0" spc="18">
                <a:solidFill>
                  <a:srgbClr val="7C7365"/>
                </a:solidFill>
                <a:latin typeface="Montserrat"/>
              </a:rPr>
              <a:t>Squadrito et al. </a:t>
            </a:r>
            <a:r>
              <a:rPr sz="1200" b="0" i="0" spc="18">
                <a:solidFill>
                  <a:srgbClr val="7C7365"/>
                </a:solidFill>
                <a:latin typeface="Montserrat"/>
              </a:rPr>
              <a:t>Front Pharmacol</a:t>
            </a:r>
            <a:r>
              <a:rPr sz="1200" b="0" i="0" spc="18">
                <a:solidFill>
                  <a:srgbClr val="7C7365"/>
                </a:solidFill>
                <a:latin typeface="Montserrat"/>
              </a:rPr>
              <a:t> 2017;8:224</a:t>
            </a:r>
          </a:p>
        </p:txBody>
      </p:sp>
      <p:sp>
        <p:nvSpPr>
          <p:cNvPr id="38" name="TextBox 37"/>
          <p:cNvSpPr txBox="1"/>
          <p:nvPr/>
        </p:nvSpPr>
        <p:spPr>
          <a:xfrm>
            <a:off x="8956462" y="6184884"/>
            <a:ext cx="1935983" cy="171450"/>
          </a:xfrm>
          <a:prstGeom prst="rect">
            <a:avLst/>
          </a:prstGeom>
          <a:noFill/>
        </p:spPr>
        <p:txBody>
          <a:bodyPr wrap="none" lIns="0" rIns="0" tIns="0" bIns="0" anchor="ctr">
            <a:noAutofit/>
          </a:bodyPr>
          <a:lstStyle/>
          <a:p>
            <a:pPr algn="l">
              <a:lnSpc>
                <a:spcPts val="1260"/>
              </a:lnSpc>
            </a:pPr>
            <a:r>
              <a:rPr sz="1050" b="1" i="0" spc="189">
                <a:solidFill>
                  <a:srgbClr val="8A6A1C"/>
                </a:solidFill>
                <a:latin typeface="Montserrat"/>
              </a:rPr>
              <a:t>EMERGING EVIDENCE</a:t>
            </a:r>
          </a:p>
        </p:txBody>
      </p:sp>
      <p:sp>
        <p:nvSpPr>
          <p:cNvPr id="39" name="TextBox 38"/>
          <p:cNvSpPr txBox="1"/>
          <p:nvPr/>
        </p:nvSpPr>
        <p:spPr>
          <a:xfrm>
            <a:off x="11235280" y="6162659"/>
            <a:ext cx="143891" cy="215899"/>
          </a:xfrm>
          <a:prstGeom prst="rect">
            <a:avLst/>
          </a:prstGeom>
          <a:noFill/>
        </p:spPr>
        <p:txBody>
          <a:bodyPr wrap="none" lIns="0" rIns="0" tIns="0" bIns="0" anchor="ctr">
            <a:noAutofit/>
          </a:bodyPr>
          <a:lstStyle/>
          <a:p>
            <a:pPr algn="l">
              <a:lnSpc>
                <a:spcPts val="1680"/>
              </a:lnSpc>
            </a:pPr>
            <a:r>
              <a:rPr sz="1400" b="0" i="0">
                <a:solidFill>
                  <a:srgbClr val="7C7365"/>
                </a:solidFill>
                <a:latin typeface="Cormorant Garamond"/>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Rectangle 1"/>
          <p:cNvSpPr/>
          <p:nvPr/>
        </p:nvSpPr>
        <p:spPr>
          <a:xfrm>
            <a:off x="812798" y="1628898"/>
            <a:ext cx="609598" cy="6350"/>
          </a:xfrm>
          <a:prstGeom prst="rect">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3" name="Connector 2"/>
          <p:cNvCxnSpPr/>
          <p:nvPr/>
        </p:nvCxnSpPr>
        <p:spPr>
          <a:xfrm>
            <a:off x="812798" y="3462329"/>
            <a:ext cx="10566373" cy="0"/>
          </a:xfrm>
          <a:prstGeom prst="line">
            <a:avLst/>
          </a:prstGeom>
          <a:ln w="12700">
            <a:solidFill>
              <a:srgbClr val="C6A24E"/>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3030022" y="3176579"/>
            <a:ext cx="6350" cy="215899"/>
          </a:xfrm>
          <a:prstGeom prst="rect">
            <a:avLst/>
          </a:prstGeom>
          <a:solidFill>
            <a:srgbClr val="E4D5A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Oval 4"/>
          <p:cNvSpPr/>
          <p:nvPr/>
        </p:nvSpPr>
        <p:spPr>
          <a:xfrm>
            <a:off x="2982397" y="3392479"/>
            <a:ext cx="101600" cy="101600"/>
          </a:xfrm>
          <a:prstGeom prst="ellipse">
            <a:avLst/>
          </a:prstGeom>
          <a:solidFill>
            <a:srgbClr val="C6A24E"/>
          </a:solidFill>
          <a:ln w="19050">
            <a:solidFill>
              <a:srgbClr val="FBF7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Oval 5"/>
          <p:cNvSpPr/>
          <p:nvPr/>
        </p:nvSpPr>
        <p:spPr>
          <a:xfrm>
            <a:off x="5095672" y="3430579"/>
            <a:ext cx="101600" cy="101600"/>
          </a:xfrm>
          <a:prstGeom prst="ellipse">
            <a:avLst/>
          </a:prstGeom>
          <a:solidFill>
            <a:srgbClr val="C6A24E"/>
          </a:solidFill>
          <a:ln w="19050">
            <a:solidFill>
              <a:srgbClr val="FBF7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5143296" y="3532179"/>
            <a:ext cx="6350" cy="215899"/>
          </a:xfrm>
          <a:prstGeom prst="rect">
            <a:avLst/>
          </a:prstGeom>
          <a:solidFill>
            <a:srgbClr val="E4D5A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Rectangle 7"/>
          <p:cNvSpPr/>
          <p:nvPr/>
        </p:nvSpPr>
        <p:spPr>
          <a:xfrm>
            <a:off x="7150907" y="3176579"/>
            <a:ext cx="6350" cy="215899"/>
          </a:xfrm>
          <a:prstGeom prst="rect">
            <a:avLst/>
          </a:prstGeom>
          <a:solidFill>
            <a:srgbClr val="E4D5A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Oval 8"/>
          <p:cNvSpPr/>
          <p:nvPr/>
        </p:nvSpPr>
        <p:spPr>
          <a:xfrm>
            <a:off x="7103282" y="3392479"/>
            <a:ext cx="101600" cy="101600"/>
          </a:xfrm>
          <a:prstGeom prst="ellipse">
            <a:avLst/>
          </a:prstGeom>
          <a:solidFill>
            <a:srgbClr val="C6A24E"/>
          </a:solidFill>
          <a:ln w="19050">
            <a:solidFill>
              <a:srgbClr val="FBF7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Oval 9"/>
          <p:cNvSpPr/>
          <p:nvPr/>
        </p:nvSpPr>
        <p:spPr>
          <a:xfrm>
            <a:off x="9110957" y="3430579"/>
            <a:ext cx="101600" cy="101600"/>
          </a:xfrm>
          <a:prstGeom prst="ellipse">
            <a:avLst/>
          </a:prstGeom>
          <a:solidFill>
            <a:srgbClr val="C6A24E"/>
          </a:solidFill>
          <a:ln w="19050">
            <a:solidFill>
              <a:srgbClr val="FBF7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ectangle 10"/>
          <p:cNvSpPr/>
          <p:nvPr/>
        </p:nvSpPr>
        <p:spPr>
          <a:xfrm>
            <a:off x="9158582" y="3532179"/>
            <a:ext cx="6350" cy="215899"/>
          </a:xfrm>
          <a:prstGeom prst="rect">
            <a:avLst/>
          </a:prstGeom>
          <a:solidFill>
            <a:srgbClr val="E4D5A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10954802" y="3176579"/>
            <a:ext cx="6350" cy="215899"/>
          </a:xfrm>
          <a:prstGeom prst="rect">
            <a:avLst/>
          </a:prstGeom>
          <a:solidFill>
            <a:srgbClr val="E4D5A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Oval 12"/>
          <p:cNvSpPr/>
          <p:nvPr/>
        </p:nvSpPr>
        <p:spPr>
          <a:xfrm>
            <a:off x="10907177" y="3392479"/>
            <a:ext cx="101600" cy="101600"/>
          </a:xfrm>
          <a:prstGeom prst="ellipse">
            <a:avLst/>
          </a:prstGeom>
          <a:solidFill>
            <a:srgbClr val="C6A24E"/>
          </a:solidFill>
          <a:ln w="19050">
            <a:solidFill>
              <a:srgbClr val="FBF7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14" name="Connector 13"/>
          <p:cNvCxnSpPr/>
          <p:nvPr/>
        </p:nvCxnSpPr>
        <p:spPr>
          <a:xfrm>
            <a:off x="812798" y="5911835"/>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12798" y="558799"/>
            <a:ext cx="10566373" cy="203199"/>
          </a:xfrm>
          <a:prstGeom prst="rect">
            <a:avLst/>
          </a:prstGeom>
          <a:noFill/>
        </p:spPr>
        <p:txBody>
          <a:bodyPr wrap="none" lIns="0" rIns="0" tIns="0" bIns="0" anchor="ctr">
            <a:noAutofit/>
          </a:bodyPr>
          <a:lstStyle/>
          <a:p>
            <a:pPr algn="l">
              <a:lnSpc>
                <a:spcPts val="1560"/>
              </a:lnSpc>
            </a:pPr>
            <a:r>
              <a:rPr sz="1300" b="1" i="0" spc="416">
                <a:solidFill>
                  <a:srgbClr val="8A6A1C"/>
                </a:solidFill>
                <a:latin typeface="Montserrat"/>
              </a:rPr>
              <a:t>EVIDENCE</a:t>
            </a:r>
          </a:p>
        </p:txBody>
      </p:sp>
      <p:sp>
        <p:nvSpPr>
          <p:cNvPr id="16" name="TextBox 15"/>
          <p:cNvSpPr txBox="1"/>
          <p:nvPr/>
        </p:nvSpPr>
        <p:spPr>
          <a:xfrm>
            <a:off x="812798" y="888998"/>
            <a:ext cx="10566373" cy="549401"/>
          </a:xfrm>
          <a:prstGeom prst="rect">
            <a:avLst/>
          </a:prstGeom>
          <a:noFill/>
        </p:spPr>
        <p:txBody>
          <a:bodyPr wrap="none" lIns="0" rIns="0" tIns="0" bIns="0" anchor="ctr">
            <a:noAutofit/>
          </a:bodyPr>
          <a:lstStyle/>
          <a:p>
            <a:pPr algn="l">
              <a:lnSpc>
                <a:spcPts val="4326"/>
              </a:lnSpc>
            </a:pPr>
            <a:r>
              <a:rPr sz="4200" b="1" i="0" spc="17">
                <a:solidFill>
                  <a:srgbClr val="2E2B26"/>
                </a:solidFill>
                <a:latin typeface="Cormorant Garamond"/>
              </a:rPr>
              <a:t>Where the evidence actually sits</a:t>
            </a:r>
          </a:p>
        </p:txBody>
      </p:sp>
      <p:sp>
        <p:nvSpPr>
          <p:cNvPr id="17" name="TextBox 16"/>
          <p:cNvSpPr txBox="1"/>
          <p:nvPr/>
        </p:nvSpPr>
        <p:spPr>
          <a:xfrm>
            <a:off x="812798" y="3532179"/>
            <a:ext cx="2205540" cy="190500"/>
          </a:xfrm>
          <a:prstGeom prst="rect">
            <a:avLst/>
          </a:prstGeom>
          <a:noFill/>
        </p:spPr>
        <p:txBody>
          <a:bodyPr wrap="none" lIns="0" rIns="0" tIns="0" bIns="0" anchor="ctr">
            <a:noAutofit/>
          </a:bodyPr>
          <a:lstStyle/>
          <a:p>
            <a:pPr algn="l">
              <a:lnSpc>
                <a:spcPts val="1500"/>
              </a:lnSpc>
            </a:pPr>
            <a:r>
              <a:rPr sz="1250" b="1" i="0" spc="250">
                <a:solidFill>
                  <a:srgbClr val="7C7365"/>
                </a:solidFill>
                <a:latin typeface="Montserrat"/>
              </a:rPr>
              <a:t>MORE ESTABLISHED</a:t>
            </a:r>
          </a:p>
        </p:txBody>
      </p:sp>
      <p:sp>
        <p:nvSpPr>
          <p:cNvPr id="18" name="TextBox 17"/>
          <p:cNvSpPr txBox="1"/>
          <p:nvPr/>
        </p:nvSpPr>
        <p:spPr>
          <a:xfrm>
            <a:off x="8998435" y="3532179"/>
            <a:ext cx="2380736" cy="190500"/>
          </a:xfrm>
          <a:prstGeom prst="rect">
            <a:avLst/>
          </a:prstGeom>
          <a:noFill/>
        </p:spPr>
        <p:txBody>
          <a:bodyPr wrap="none" lIns="0" rIns="0" tIns="0" bIns="0" anchor="ctr">
            <a:noAutofit/>
          </a:bodyPr>
          <a:lstStyle/>
          <a:p>
            <a:pPr algn="l">
              <a:lnSpc>
                <a:spcPts val="1500"/>
              </a:lnSpc>
            </a:pPr>
            <a:r>
              <a:rPr sz="1250" b="1" i="0" spc="250">
                <a:solidFill>
                  <a:srgbClr val="7C7365"/>
                </a:solidFill>
                <a:latin typeface="Montserrat"/>
              </a:rPr>
              <a:t>MORE EXPERIMENTAL</a:t>
            </a:r>
          </a:p>
        </p:txBody>
      </p:sp>
      <p:sp>
        <p:nvSpPr>
          <p:cNvPr id="19" name="TextBox 18"/>
          <p:cNvSpPr txBox="1"/>
          <p:nvPr/>
        </p:nvSpPr>
        <p:spPr>
          <a:xfrm>
            <a:off x="2048949" y="2122482"/>
            <a:ext cx="1968495" cy="1269997"/>
          </a:xfrm>
          <a:prstGeom prst="rect">
            <a:avLst/>
          </a:prstGeom>
          <a:noFill/>
        </p:spPr>
        <p:txBody>
          <a:bodyPr wrap="square" lIns="0" rIns="0" tIns="0" bIns="0" anchor="t">
            <a:noAutofit/>
          </a:bodyPr>
          <a:lstStyle/>
          <a:p>
            <a:pPr algn="ctr">
              <a:lnSpc>
                <a:spcPts val="2000"/>
              </a:lnSpc>
            </a:pPr>
            <a:r>
              <a:rPr sz="1600" b="0" i="0">
                <a:solidFill>
                  <a:srgbClr val="453F35"/>
                </a:solidFill>
                <a:latin typeface="Montserrat"/>
              </a:rPr>
              <a:t>Autologous platelet</a:t>
            </a:r>
          </a:p>
          <a:p>
            <a:pPr algn="ctr">
              <a:lnSpc>
                <a:spcPts val="2000"/>
              </a:lnSpc>
            </a:pPr>
            <a:r>
              <a:rPr sz="1600" b="0" i="0">
                <a:solidFill>
                  <a:srgbClr val="453F35"/>
                </a:solidFill>
                <a:latin typeface="Montserrat"/>
              </a:rPr>
              <a:t>concentrates (PRP)</a:t>
            </a:r>
          </a:p>
        </p:txBody>
      </p:sp>
      <p:sp>
        <p:nvSpPr>
          <p:cNvPr id="20" name="TextBox 19"/>
          <p:cNvSpPr txBox="1"/>
          <p:nvPr/>
        </p:nvSpPr>
        <p:spPr>
          <a:xfrm>
            <a:off x="4162224" y="3900478"/>
            <a:ext cx="1968495" cy="761998"/>
          </a:xfrm>
          <a:prstGeom prst="rect">
            <a:avLst/>
          </a:prstGeom>
          <a:noFill/>
        </p:spPr>
        <p:txBody>
          <a:bodyPr wrap="square" lIns="0" rIns="0" tIns="0" bIns="0" anchor="t">
            <a:noAutofit/>
          </a:bodyPr>
          <a:lstStyle/>
          <a:p>
            <a:pPr algn="ctr">
              <a:lnSpc>
                <a:spcPts val="2000"/>
              </a:lnSpc>
            </a:pPr>
            <a:r>
              <a:rPr sz="1600" b="0" i="0">
                <a:solidFill>
                  <a:srgbClr val="453F35"/>
                </a:solidFill>
                <a:latin typeface="Montserrat"/>
              </a:rPr>
              <a:t>Polynucleotides</a:t>
            </a:r>
          </a:p>
          <a:p>
            <a:pPr algn="ctr">
              <a:lnSpc>
                <a:spcPts val="2000"/>
              </a:lnSpc>
            </a:pPr>
            <a:r>
              <a:rPr sz="1600" b="0" i="0">
                <a:solidFill>
                  <a:srgbClr val="453F35"/>
                </a:solidFill>
                <a:latin typeface="Montserrat"/>
              </a:rPr>
              <a:t>(PN / PDRN)</a:t>
            </a:r>
          </a:p>
        </p:txBody>
      </p:sp>
      <p:sp>
        <p:nvSpPr>
          <p:cNvPr id="21" name="TextBox 20"/>
          <p:cNvSpPr txBox="1"/>
          <p:nvPr/>
        </p:nvSpPr>
        <p:spPr>
          <a:xfrm>
            <a:off x="6169835" y="2376481"/>
            <a:ext cx="1968495" cy="1015997"/>
          </a:xfrm>
          <a:prstGeom prst="rect">
            <a:avLst/>
          </a:prstGeom>
          <a:noFill/>
        </p:spPr>
        <p:txBody>
          <a:bodyPr wrap="square" lIns="0" rIns="0" tIns="0" bIns="0" anchor="t">
            <a:noAutofit/>
          </a:bodyPr>
          <a:lstStyle/>
          <a:p>
            <a:pPr algn="ctr">
              <a:lnSpc>
                <a:spcPts val="2000"/>
              </a:lnSpc>
            </a:pPr>
            <a:r>
              <a:rPr sz="1600" b="0" i="0">
                <a:solidFill>
                  <a:srgbClr val="453F35"/>
                </a:solidFill>
                <a:latin typeface="Montserrat"/>
              </a:rPr>
              <a:t>Collagen-stimulating</a:t>
            </a:r>
          </a:p>
          <a:p>
            <a:pPr algn="ctr">
              <a:lnSpc>
                <a:spcPts val="2000"/>
              </a:lnSpc>
            </a:pPr>
            <a:r>
              <a:rPr sz="1600" b="0" i="0">
                <a:solidFill>
                  <a:srgbClr val="453F35"/>
                </a:solidFill>
                <a:latin typeface="Montserrat"/>
              </a:rPr>
              <a:t>injectables</a:t>
            </a:r>
          </a:p>
        </p:txBody>
      </p:sp>
      <p:sp>
        <p:nvSpPr>
          <p:cNvPr id="22" name="TextBox 21"/>
          <p:cNvSpPr txBox="1"/>
          <p:nvPr/>
        </p:nvSpPr>
        <p:spPr>
          <a:xfrm>
            <a:off x="8177509" y="3900478"/>
            <a:ext cx="1968495" cy="1015997"/>
          </a:xfrm>
          <a:prstGeom prst="rect">
            <a:avLst/>
          </a:prstGeom>
          <a:noFill/>
        </p:spPr>
        <p:txBody>
          <a:bodyPr wrap="square" lIns="0" rIns="0" tIns="0" bIns="0" anchor="t">
            <a:noAutofit/>
          </a:bodyPr>
          <a:lstStyle/>
          <a:p>
            <a:pPr algn="ctr">
              <a:lnSpc>
                <a:spcPts val="2000"/>
              </a:lnSpc>
            </a:pPr>
            <a:r>
              <a:rPr sz="1600" b="0" i="0">
                <a:solidFill>
                  <a:srgbClr val="453F35"/>
                </a:solidFill>
                <a:latin typeface="Montserrat"/>
              </a:rPr>
              <a:t>Extracellular vesicles</a:t>
            </a:r>
          </a:p>
          <a:p>
            <a:pPr algn="ctr">
              <a:lnSpc>
                <a:spcPts val="2000"/>
              </a:lnSpc>
            </a:pPr>
            <a:r>
              <a:rPr sz="1600" b="0" i="0">
                <a:solidFill>
                  <a:srgbClr val="453F35"/>
                </a:solidFill>
                <a:latin typeface="Montserrat"/>
              </a:rPr>
              <a:t>/ exosomes</a:t>
            </a:r>
          </a:p>
        </p:txBody>
      </p:sp>
      <p:sp>
        <p:nvSpPr>
          <p:cNvPr id="23" name="TextBox 22"/>
          <p:cNvSpPr txBox="1"/>
          <p:nvPr/>
        </p:nvSpPr>
        <p:spPr>
          <a:xfrm>
            <a:off x="9973729" y="2630481"/>
            <a:ext cx="1968495" cy="761998"/>
          </a:xfrm>
          <a:prstGeom prst="rect">
            <a:avLst/>
          </a:prstGeom>
          <a:noFill/>
        </p:spPr>
        <p:txBody>
          <a:bodyPr wrap="square" lIns="0" rIns="0" tIns="0" bIns="0" anchor="t">
            <a:noAutofit/>
          </a:bodyPr>
          <a:lstStyle/>
          <a:p>
            <a:pPr algn="ctr">
              <a:lnSpc>
                <a:spcPts val="2000"/>
              </a:lnSpc>
            </a:pPr>
            <a:r>
              <a:rPr sz="1600" b="0" i="0">
                <a:solidFill>
                  <a:srgbClr val="453F35"/>
                </a:solidFill>
                <a:latin typeface="Montserrat"/>
              </a:rPr>
              <a:t>NAD⁺-related</a:t>
            </a:r>
          </a:p>
          <a:p>
            <a:pPr algn="ctr">
              <a:lnSpc>
                <a:spcPts val="2000"/>
              </a:lnSpc>
            </a:pPr>
            <a:r>
              <a:rPr sz="1600" b="0" i="0">
                <a:solidFill>
                  <a:srgbClr val="453F35"/>
                </a:solidFill>
                <a:latin typeface="Montserrat"/>
              </a:rPr>
              <a:t>interventions</a:t>
            </a:r>
          </a:p>
        </p:txBody>
      </p:sp>
      <p:sp>
        <p:nvSpPr>
          <p:cNvPr id="24" name="TextBox 23"/>
          <p:cNvSpPr txBox="1"/>
          <p:nvPr/>
        </p:nvSpPr>
        <p:spPr>
          <a:xfrm>
            <a:off x="3090664" y="5081575"/>
            <a:ext cx="6010641" cy="380999"/>
          </a:xfrm>
          <a:prstGeom prst="rect">
            <a:avLst/>
          </a:prstGeom>
          <a:noFill/>
        </p:spPr>
        <p:txBody>
          <a:bodyPr wrap="none" lIns="0" rIns="0" tIns="0" bIns="0" anchor="ctr">
            <a:noAutofit/>
          </a:bodyPr>
          <a:lstStyle/>
          <a:p>
            <a:pPr algn="l">
              <a:lnSpc>
                <a:spcPts val="3000"/>
              </a:lnSpc>
            </a:pPr>
            <a:r>
              <a:rPr sz="2500" b="0" i="1">
                <a:solidFill>
                  <a:srgbClr val="8A6A1C"/>
                </a:solidFill>
                <a:latin typeface="Cormorant Garamond"/>
              </a:rPr>
              <a:t>Biological rationale does not equal clinical validation.</a:t>
            </a:r>
          </a:p>
        </p:txBody>
      </p:sp>
      <p:sp>
        <p:nvSpPr>
          <p:cNvPr id="25" name="TextBox 24"/>
          <p:cNvSpPr txBox="1"/>
          <p:nvPr/>
        </p:nvSpPr>
        <p:spPr>
          <a:xfrm>
            <a:off x="781048" y="6045185"/>
            <a:ext cx="7306672" cy="551179"/>
          </a:xfrm>
          <a:prstGeom prst="rect">
            <a:avLst/>
          </a:prstGeom>
          <a:noFill/>
        </p:spPr>
        <p:txBody>
          <a:bodyPr wrap="square" lIns="0" rIns="0" tIns="0" bIns="0" anchor="t">
            <a:noAutofit/>
          </a:bodyPr>
          <a:lstStyle/>
          <a:p>
            <a:pPr algn="l">
              <a:lnSpc>
                <a:spcPts val="1439"/>
              </a:lnSpc>
            </a:pPr>
            <a:r>
              <a:rPr sz="1200" b="0" i="0" spc="18">
                <a:solidFill>
                  <a:srgbClr val="7C7365"/>
                </a:solidFill>
                <a:latin typeface="Montserrat"/>
              </a:rPr>
              <a:t>Goldstein et al. </a:t>
            </a:r>
            <a:r>
              <a:rPr sz="1200" b="0" i="0" spc="18">
                <a:solidFill>
                  <a:srgbClr val="7C7365"/>
                </a:solidFill>
                <a:latin typeface="Montserrat"/>
              </a:rPr>
              <a:t>J Am Acad Dermatol</a:t>
            </a:r>
            <a:r>
              <a:rPr sz="1200" b="0" i="0" spc="18">
                <a:solidFill>
                  <a:srgbClr val="7C7365"/>
                </a:solidFill>
                <a:latin typeface="Montserrat"/>
              </a:rPr>
              <a:t> 2019;80:1788–9 · FDA Public Safety Notification on exosome products, 2019</a:t>
            </a:r>
          </a:p>
        </p:txBody>
      </p:sp>
      <p:sp>
        <p:nvSpPr>
          <p:cNvPr id="26" name="TextBox 25"/>
          <p:cNvSpPr txBox="1"/>
          <p:nvPr/>
        </p:nvSpPr>
        <p:spPr>
          <a:xfrm>
            <a:off x="8398870" y="6143609"/>
            <a:ext cx="2519356" cy="171450"/>
          </a:xfrm>
          <a:prstGeom prst="rect">
            <a:avLst/>
          </a:prstGeom>
          <a:noFill/>
        </p:spPr>
        <p:txBody>
          <a:bodyPr wrap="none" lIns="0" rIns="0" tIns="0" bIns="0" anchor="ctr">
            <a:noAutofit/>
          </a:bodyPr>
          <a:lstStyle/>
          <a:p>
            <a:pPr algn="l">
              <a:lnSpc>
                <a:spcPts val="1260"/>
              </a:lnSpc>
            </a:pPr>
            <a:r>
              <a:rPr sz="1050" b="1" i="0" spc="189">
                <a:solidFill>
                  <a:srgbClr val="6E2639"/>
                </a:solidFill>
                <a:latin typeface="Montserrat"/>
              </a:rPr>
              <a:t>EMERGING · EXPERIMENTAL</a:t>
            </a:r>
          </a:p>
        </p:txBody>
      </p:sp>
      <p:sp>
        <p:nvSpPr>
          <p:cNvPr id="27" name="TextBox 26"/>
          <p:cNvSpPr txBox="1"/>
          <p:nvPr/>
        </p:nvSpPr>
        <p:spPr>
          <a:xfrm>
            <a:off x="11261125" y="6121384"/>
            <a:ext cx="118046" cy="215899"/>
          </a:xfrm>
          <a:prstGeom prst="rect">
            <a:avLst/>
          </a:prstGeom>
          <a:noFill/>
        </p:spPr>
        <p:txBody>
          <a:bodyPr wrap="none" lIns="0" rIns="0" tIns="0" bIns="0" anchor="ctr">
            <a:noAutofit/>
          </a:bodyPr>
          <a:lstStyle/>
          <a:p>
            <a:pPr algn="l">
              <a:lnSpc>
                <a:spcPts val="1680"/>
              </a:lnSpc>
            </a:pPr>
            <a:r>
              <a:rPr sz="1400" b="0" i="0">
                <a:solidFill>
                  <a:srgbClr val="7C7365"/>
                </a:solidFill>
                <a:latin typeface="Cormorant Garamond"/>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Rectangle 1"/>
          <p:cNvSpPr/>
          <p:nvPr/>
        </p:nvSpPr>
        <p:spPr>
          <a:xfrm>
            <a:off x="812798" y="1628898"/>
            <a:ext cx="609598" cy="6350"/>
          </a:xfrm>
          <a:prstGeom prst="rect">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3" name="Connector 2"/>
          <p:cNvCxnSpPr/>
          <p:nvPr/>
        </p:nvCxnSpPr>
        <p:spPr>
          <a:xfrm>
            <a:off x="812798" y="5994385"/>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pic>
        <p:nvPicPr>
          <p:cNvPr id="4" name="Picture 3" descr="s12-0.png"/>
          <p:cNvPicPr>
            <a:picLocks noChangeAspect="1"/>
          </p:cNvPicPr>
          <p:nvPr/>
        </p:nvPicPr>
        <p:blipFill>
          <a:blip r:embed="rId2"/>
          <a:stretch>
            <a:fillRect/>
          </a:stretch>
        </p:blipFill>
        <p:spPr>
          <a:xfrm>
            <a:off x="812798" y="1863847"/>
            <a:ext cx="6222984" cy="4003538"/>
          </a:xfrm>
          <a:prstGeom prst="rect">
            <a:avLst/>
          </a:prstGeom>
        </p:spPr>
      </p:pic>
      <p:sp>
        <p:nvSpPr>
          <p:cNvPr id="5" name="TextBox 4"/>
          <p:cNvSpPr txBox="1"/>
          <p:nvPr/>
        </p:nvSpPr>
        <p:spPr>
          <a:xfrm>
            <a:off x="812798" y="558799"/>
            <a:ext cx="10566373" cy="203199"/>
          </a:xfrm>
          <a:prstGeom prst="rect">
            <a:avLst/>
          </a:prstGeom>
          <a:noFill/>
        </p:spPr>
        <p:txBody>
          <a:bodyPr wrap="none" lIns="0" rIns="0" tIns="0" bIns="0" anchor="ctr">
            <a:noAutofit/>
          </a:bodyPr>
          <a:lstStyle/>
          <a:p>
            <a:pPr algn="l">
              <a:lnSpc>
                <a:spcPts val="1560"/>
              </a:lnSpc>
            </a:pPr>
            <a:r>
              <a:rPr sz="1300" b="1" i="0" spc="416">
                <a:solidFill>
                  <a:srgbClr val="8A6A1C"/>
                </a:solidFill>
                <a:latin typeface="Montserrat"/>
              </a:rPr>
              <a:t>EXPERT CLINICAL FRAMEWORK — NOT A VALIDATED GUIDELINE</a:t>
            </a:r>
          </a:p>
        </p:txBody>
      </p:sp>
      <p:sp>
        <p:nvSpPr>
          <p:cNvPr id="6" name="TextBox 5"/>
          <p:cNvSpPr txBox="1"/>
          <p:nvPr/>
        </p:nvSpPr>
        <p:spPr>
          <a:xfrm>
            <a:off x="812798" y="888998"/>
            <a:ext cx="10566373" cy="549401"/>
          </a:xfrm>
          <a:prstGeom prst="rect">
            <a:avLst/>
          </a:prstGeom>
          <a:noFill/>
        </p:spPr>
        <p:txBody>
          <a:bodyPr wrap="none" lIns="0" rIns="0" tIns="0" bIns="0" anchor="ctr">
            <a:noAutofit/>
          </a:bodyPr>
          <a:lstStyle/>
          <a:p>
            <a:pPr algn="l">
              <a:lnSpc>
                <a:spcPts val="4326"/>
              </a:lnSpc>
            </a:pPr>
            <a:r>
              <a:rPr sz="4200" b="1" i="0" spc="17">
                <a:solidFill>
                  <a:srgbClr val="2E2B26"/>
                </a:solidFill>
                <a:latin typeface="Cormorant Garamond"/>
              </a:rPr>
              <a:t>The Kabboura Clinical Framework</a:t>
            </a:r>
          </a:p>
        </p:txBody>
      </p:sp>
      <p:sp>
        <p:nvSpPr>
          <p:cNvPr id="7" name="TextBox 6"/>
          <p:cNvSpPr txBox="1"/>
          <p:nvPr/>
        </p:nvSpPr>
        <p:spPr>
          <a:xfrm>
            <a:off x="7410431" y="2184204"/>
            <a:ext cx="4000490" cy="1234373"/>
          </a:xfrm>
          <a:prstGeom prst="rect">
            <a:avLst/>
          </a:prstGeom>
          <a:noFill/>
        </p:spPr>
        <p:txBody>
          <a:bodyPr wrap="square" lIns="0" rIns="0" tIns="0" bIns="0" anchor="t">
            <a:noAutofit/>
          </a:bodyPr>
          <a:lstStyle/>
          <a:p>
            <a:pPr algn="l">
              <a:lnSpc>
                <a:spcPts val="3240"/>
              </a:lnSpc>
            </a:pPr>
            <a:r>
              <a:rPr sz="2700" b="0" i="1">
                <a:solidFill>
                  <a:srgbClr val="8A6A1C"/>
                </a:solidFill>
                <a:latin typeface="Cormorant Garamond"/>
              </a:rPr>
              <a:t>Escalate only from</a:t>
            </a:r>
          </a:p>
          <a:p>
            <a:pPr algn="l">
              <a:lnSpc>
                <a:spcPts val="3240"/>
              </a:lnSpc>
            </a:pPr>
            <a:r>
              <a:rPr sz="2700" b="0" i="1">
                <a:solidFill>
                  <a:srgbClr val="8A6A1C"/>
                </a:solidFill>
                <a:latin typeface="Cormorant Garamond"/>
              </a:rPr>
              <a:t>a quiet foundation.</a:t>
            </a:r>
          </a:p>
        </p:txBody>
      </p:sp>
      <p:sp>
        <p:nvSpPr>
          <p:cNvPr id="8" name="TextBox 7"/>
          <p:cNvSpPr txBox="1"/>
          <p:nvPr/>
        </p:nvSpPr>
        <p:spPr>
          <a:xfrm>
            <a:off x="7410431" y="3210298"/>
            <a:ext cx="4000490" cy="1955668"/>
          </a:xfrm>
          <a:prstGeom prst="rect">
            <a:avLst/>
          </a:prstGeom>
          <a:noFill/>
        </p:spPr>
        <p:txBody>
          <a:bodyPr wrap="square" lIns="0" rIns="0" tIns="0" bIns="0" anchor="t">
            <a:noAutofit/>
          </a:bodyPr>
          <a:lstStyle/>
          <a:p>
            <a:pPr algn="l">
              <a:lnSpc>
                <a:spcPts val="3080"/>
              </a:lnSpc>
            </a:pPr>
            <a:r>
              <a:rPr sz="2200" b="0" i="0">
                <a:solidFill>
                  <a:srgbClr val="453F35"/>
                </a:solidFill>
                <a:latin typeface="Montserrat"/>
              </a:rPr>
              <a:t>Stage-gated and indication-led. Each stage is re-assessed before the next is entered.</a:t>
            </a:r>
          </a:p>
        </p:txBody>
      </p:sp>
      <p:sp>
        <p:nvSpPr>
          <p:cNvPr id="9" name="TextBox 8"/>
          <p:cNvSpPr txBox="1"/>
          <p:nvPr/>
        </p:nvSpPr>
        <p:spPr>
          <a:xfrm>
            <a:off x="7410431" y="4978006"/>
            <a:ext cx="4000490" cy="853374"/>
          </a:xfrm>
          <a:prstGeom prst="rect">
            <a:avLst/>
          </a:prstGeom>
          <a:noFill/>
        </p:spPr>
        <p:txBody>
          <a:bodyPr wrap="square" lIns="0" rIns="0" tIns="0" bIns="0" anchor="t">
            <a:noAutofit/>
          </a:bodyPr>
          <a:lstStyle/>
          <a:p>
            <a:pPr algn="l">
              <a:lnSpc>
                <a:spcPts val="2240"/>
              </a:lnSpc>
            </a:pPr>
            <a:r>
              <a:rPr sz="1600" b="0" i="0">
                <a:solidFill>
                  <a:srgbClr val="7C7365"/>
                </a:solidFill>
                <a:latin typeface="Montserrat"/>
              </a:rPr>
              <a:t>An organising heuristic — not a validated protocol.</a:t>
            </a:r>
          </a:p>
        </p:txBody>
      </p:sp>
      <p:sp>
        <p:nvSpPr>
          <p:cNvPr id="10" name="TextBox 9"/>
          <p:cNvSpPr txBox="1"/>
          <p:nvPr/>
        </p:nvSpPr>
        <p:spPr>
          <a:xfrm>
            <a:off x="812798" y="6270609"/>
            <a:ext cx="6927705" cy="6350"/>
          </a:xfrm>
          <a:prstGeom prst="rect">
            <a:avLst/>
          </a:prstGeom>
          <a:noFill/>
        </p:spPr>
        <p:txBody>
          <a:bodyPr wrap="none" lIns="0" rIns="0" tIns="0" bIns="0" anchor="ctr">
            <a:noAutofit/>
          </a:bodyPr>
          <a:lstStyle/>
          <a:p>
            <a:pPr algn="l">
              <a:lnSpc>
                <a:spcPts val="1439"/>
              </a:lnSpc>
            </a:pPr>
          </a:p>
        </p:txBody>
      </p:sp>
      <p:sp>
        <p:nvSpPr>
          <p:cNvPr id="11" name="TextBox 10"/>
          <p:cNvSpPr txBox="1"/>
          <p:nvPr/>
        </p:nvSpPr>
        <p:spPr>
          <a:xfrm>
            <a:off x="8083402" y="6184884"/>
            <a:ext cx="2822250" cy="171450"/>
          </a:xfrm>
          <a:prstGeom prst="rect">
            <a:avLst/>
          </a:prstGeom>
          <a:noFill/>
        </p:spPr>
        <p:txBody>
          <a:bodyPr wrap="none" lIns="0" rIns="0" tIns="0" bIns="0" anchor="ctr">
            <a:noAutofit/>
          </a:bodyPr>
          <a:lstStyle/>
          <a:p>
            <a:pPr algn="l">
              <a:lnSpc>
                <a:spcPts val="1260"/>
              </a:lnSpc>
            </a:pPr>
            <a:r>
              <a:rPr sz="1050" b="1" i="0" spc="189">
                <a:solidFill>
                  <a:srgbClr val="8A6A1C"/>
                </a:solidFill>
                <a:latin typeface="Montserrat"/>
              </a:rPr>
              <a:t>EXPERT CLINICAL FRAMEWORK</a:t>
            </a:r>
          </a:p>
        </p:txBody>
      </p:sp>
      <p:sp>
        <p:nvSpPr>
          <p:cNvPr id="12" name="TextBox 11"/>
          <p:cNvSpPr txBox="1"/>
          <p:nvPr/>
        </p:nvSpPr>
        <p:spPr>
          <a:xfrm>
            <a:off x="11248615" y="6162659"/>
            <a:ext cx="130556" cy="215899"/>
          </a:xfrm>
          <a:prstGeom prst="rect">
            <a:avLst/>
          </a:prstGeom>
          <a:noFill/>
        </p:spPr>
        <p:txBody>
          <a:bodyPr wrap="none" lIns="0" rIns="0" tIns="0" bIns="0" anchor="ctr">
            <a:noAutofit/>
          </a:bodyPr>
          <a:lstStyle/>
          <a:p>
            <a:pPr algn="l">
              <a:lnSpc>
                <a:spcPts val="1680"/>
              </a:lnSpc>
            </a:pPr>
            <a:r>
              <a:rPr sz="1400" b="0" i="0">
                <a:solidFill>
                  <a:srgbClr val="7C7365"/>
                </a:solidFill>
                <a:latin typeface="Cormorant Garamond"/>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Rectangle 1"/>
          <p:cNvSpPr/>
          <p:nvPr/>
        </p:nvSpPr>
        <p:spPr>
          <a:xfrm>
            <a:off x="812798" y="1628898"/>
            <a:ext cx="609598" cy="6350"/>
          </a:xfrm>
          <a:prstGeom prst="rect">
            <a:avLst/>
          </a:prstGeom>
          <a:solidFill>
            <a:srgbClr val="C6A2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3" name="Connector 2"/>
          <p:cNvCxnSpPr/>
          <p:nvPr/>
        </p:nvCxnSpPr>
        <p:spPr>
          <a:xfrm>
            <a:off x="812798" y="2791199"/>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12798" y="3902446"/>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12798" y="5013693"/>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12798" y="6064235"/>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12798" y="558799"/>
            <a:ext cx="10566373" cy="203199"/>
          </a:xfrm>
          <a:prstGeom prst="rect">
            <a:avLst/>
          </a:prstGeom>
          <a:noFill/>
        </p:spPr>
        <p:txBody>
          <a:bodyPr wrap="none" lIns="0" rIns="0" tIns="0" bIns="0" anchor="ctr">
            <a:noAutofit/>
          </a:bodyPr>
          <a:lstStyle/>
          <a:p>
            <a:pPr algn="l">
              <a:lnSpc>
                <a:spcPts val="1560"/>
              </a:lnSpc>
            </a:pPr>
            <a:r>
              <a:rPr sz="1300" b="1" i="0" spc="416">
                <a:solidFill>
                  <a:srgbClr val="8A6A1C"/>
                </a:solidFill>
                <a:latin typeface="Montserrat"/>
              </a:rPr>
              <a:t>CONCLUSION</a:t>
            </a:r>
          </a:p>
        </p:txBody>
      </p:sp>
      <p:sp>
        <p:nvSpPr>
          <p:cNvPr id="8" name="TextBox 7"/>
          <p:cNvSpPr txBox="1"/>
          <p:nvPr/>
        </p:nvSpPr>
        <p:spPr>
          <a:xfrm>
            <a:off x="812798" y="888998"/>
            <a:ext cx="10566373" cy="549401"/>
          </a:xfrm>
          <a:prstGeom prst="rect">
            <a:avLst/>
          </a:prstGeom>
          <a:noFill/>
        </p:spPr>
        <p:txBody>
          <a:bodyPr wrap="none" lIns="0" rIns="0" tIns="0" bIns="0" anchor="ctr">
            <a:noAutofit/>
          </a:bodyPr>
          <a:lstStyle/>
          <a:p>
            <a:pPr algn="l">
              <a:lnSpc>
                <a:spcPts val="4326"/>
              </a:lnSpc>
            </a:pPr>
            <a:r>
              <a:rPr sz="4200" b="1" i="0" spc="17">
                <a:solidFill>
                  <a:srgbClr val="2E2B26"/>
                </a:solidFill>
                <a:latin typeface="Cormorant Garamond"/>
              </a:rPr>
              <a:t>Clinical take-home</a:t>
            </a:r>
          </a:p>
        </p:txBody>
      </p:sp>
      <p:sp>
        <p:nvSpPr>
          <p:cNvPr id="9" name="TextBox 8"/>
          <p:cNvSpPr txBox="1"/>
          <p:nvPr/>
        </p:nvSpPr>
        <p:spPr>
          <a:xfrm>
            <a:off x="812798" y="2067301"/>
            <a:ext cx="609598" cy="457199"/>
          </a:xfrm>
          <a:prstGeom prst="rect">
            <a:avLst/>
          </a:prstGeom>
          <a:noFill/>
        </p:spPr>
        <p:txBody>
          <a:bodyPr wrap="none" lIns="0" rIns="0" tIns="0" bIns="0" anchor="ctr">
            <a:noAutofit/>
          </a:bodyPr>
          <a:lstStyle/>
          <a:p>
            <a:pPr algn="l">
              <a:lnSpc>
                <a:spcPts val="3600"/>
              </a:lnSpc>
            </a:pPr>
            <a:r>
              <a:rPr sz="3000" b="1" i="0">
                <a:solidFill>
                  <a:srgbClr val="C6A24E"/>
                </a:solidFill>
                <a:latin typeface="Cormorant Garamond"/>
              </a:rPr>
              <a:t>01</a:t>
            </a:r>
          </a:p>
        </p:txBody>
      </p:sp>
      <p:sp>
        <p:nvSpPr>
          <p:cNvPr id="10" name="TextBox 9"/>
          <p:cNvSpPr txBox="1"/>
          <p:nvPr/>
        </p:nvSpPr>
        <p:spPr>
          <a:xfrm>
            <a:off x="1701796" y="1933951"/>
            <a:ext cx="5031473" cy="634998"/>
          </a:xfrm>
          <a:prstGeom prst="rect">
            <a:avLst/>
          </a:prstGeom>
          <a:noFill/>
        </p:spPr>
        <p:txBody>
          <a:bodyPr wrap="none" lIns="0" rIns="0" tIns="0" bIns="0" anchor="ctr">
            <a:noAutofit/>
          </a:bodyPr>
          <a:lstStyle/>
          <a:p>
            <a:pPr algn="l">
              <a:lnSpc>
                <a:spcPts val="4920"/>
              </a:lnSpc>
            </a:pPr>
            <a:r>
              <a:rPr sz="4100" b="1" i="0">
                <a:solidFill>
                  <a:srgbClr val="2E2B26"/>
                </a:solidFill>
                <a:latin typeface="Cormorant Garamond"/>
              </a:rPr>
              <a:t>Diagnose before treating</a:t>
            </a:r>
          </a:p>
        </p:txBody>
      </p:sp>
      <p:sp>
        <p:nvSpPr>
          <p:cNvPr id="11" name="TextBox 10"/>
          <p:cNvSpPr txBox="1"/>
          <p:nvPr/>
        </p:nvSpPr>
        <p:spPr>
          <a:xfrm>
            <a:off x="812798" y="3178548"/>
            <a:ext cx="609598" cy="457199"/>
          </a:xfrm>
          <a:prstGeom prst="rect">
            <a:avLst/>
          </a:prstGeom>
          <a:noFill/>
        </p:spPr>
        <p:txBody>
          <a:bodyPr wrap="none" lIns="0" rIns="0" tIns="0" bIns="0" anchor="ctr">
            <a:noAutofit/>
          </a:bodyPr>
          <a:lstStyle/>
          <a:p>
            <a:pPr algn="l">
              <a:lnSpc>
                <a:spcPts val="3600"/>
              </a:lnSpc>
            </a:pPr>
            <a:r>
              <a:rPr sz="3000" b="1" i="0">
                <a:solidFill>
                  <a:srgbClr val="C6A24E"/>
                </a:solidFill>
                <a:latin typeface="Cormorant Garamond"/>
              </a:rPr>
              <a:t>02</a:t>
            </a:r>
          </a:p>
        </p:txBody>
      </p:sp>
      <p:sp>
        <p:nvSpPr>
          <p:cNvPr id="12" name="TextBox 11"/>
          <p:cNvSpPr txBox="1"/>
          <p:nvPr/>
        </p:nvSpPr>
        <p:spPr>
          <a:xfrm>
            <a:off x="1701796" y="3045198"/>
            <a:ext cx="5288267" cy="634998"/>
          </a:xfrm>
          <a:prstGeom prst="rect">
            <a:avLst/>
          </a:prstGeom>
          <a:noFill/>
        </p:spPr>
        <p:txBody>
          <a:bodyPr wrap="none" lIns="0" rIns="0" tIns="0" bIns="0" anchor="ctr">
            <a:noAutofit/>
          </a:bodyPr>
          <a:lstStyle/>
          <a:p>
            <a:pPr algn="l">
              <a:lnSpc>
                <a:spcPts val="4920"/>
              </a:lnSpc>
            </a:pPr>
            <a:r>
              <a:rPr sz="4100" b="1" i="0">
                <a:solidFill>
                  <a:srgbClr val="2E2B26"/>
                </a:solidFill>
                <a:latin typeface="Cormorant Garamond"/>
              </a:rPr>
              <a:t>Match treatment to tissue</a:t>
            </a:r>
          </a:p>
        </p:txBody>
      </p:sp>
      <p:sp>
        <p:nvSpPr>
          <p:cNvPr id="13" name="TextBox 12"/>
          <p:cNvSpPr txBox="1"/>
          <p:nvPr/>
        </p:nvSpPr>
        <p:spPr>
          <a:xfrm>
            <a:off x="812798" y="4289795"/>
            <a:ext cx="609598" cy="457199"/>
          </a:xfrm>
          <a:prstGeom prst="rect">
            <a:avLst/>
          </a:prstGeom>
          <a:noFill/>
        </p:spPr>
        <p:txBody>
          <a:bodyPr wrap="none" lIns="0" rIns="0" tIns="0" bIns="0" anchor="ctr">
            <a:noAutofit/>
          </a:bodyPr>
          <a:lstStyle/>
          <a:p>
            <a:pPr algn="l">
              <a:lnSpc>
                <a:spcPts val="3600"/>
              </a:lnSpc>
            </a:pPr>
            <a:r>
              <a:rPr sz="3000" b="1" i="0">
                <a:solidFill>
                  <a:srgbClr val="C6A24E"/>
                </a:solidFill>
                <a:latin typeface="Cormorant Garamond"/>
              </a:rPr>
              <a:t>03</a:t>
            </a:r>
          </a:p>
        </p:txBody>
      </p:sp>
      <p:sp>
        <p:nvSpPr>
          <p:cNvPr id="14" name="TextBox 13"/>
          <p:cNvSpPr txBox="1"/>
          <p:nvPr/>
        </p:nvSpPr>
        <p:spPr>
          <a:xfrm>
            <a:off x="1701796" y="4156445"/>
            <a:ext cx="6207236" cy="634998"/>
          </a:xfrm>
          <a:prstGeom prst="rect">
            <a:avLst/>
          </a:prstGeom>
          <a:noFill/>
        </p:spPr>
        <p:txBody>
          <a:bodyPr wrap="none" lIns="0" rIns="0" tIns="0" bIns="0" anchor="ctr">
            <a:noAutofit/>
          </a:bodyPr>
          <a:lstStyle/>
          <a:p>
            <a:pPr algn="l">
              <a:lnSpc>
                <a:spcPts val="4920"/>
              </a:lnSpc>
            </a:pPr>
            <a:r>
              <a:rPr sz="4100" b="1" i="0">
                <a:solidFill>
                  <a:srgbClr val="2E2B26"/>
                </a:solidFill>
                <a:latin typeface="Cormorant Garamond"/>
              </a:rPr>
              <a:t>Escalate according to evidence</a:t>
            </a:r>
          </a:p>
        </p:txBody>
      </p:sp>
      <p:sp>
        <p:nvSpPr>
          <p:cNvPr id="15" name="TextBox 14"/>
          <p:cNvSpPr txBox="1"/>
          <p:nvPr/>
        </p:nvSpPr>
        <p:spPr>
          <a:xfrm>
            <a:off x="3886317" y="5388660"/>
            <a:ext cx="4419271" cy="548575"/>
          </a:xfrm>
          <a:prstGeom prst="rect">
            <a:avLst/>
          </a:prstGeom>
          <a:noFill/>
        </p:spPr>
        <p:txBody>
          <a:bodyPr wrap="none" lIns="0" rIns="0" tIns="0" bIns="0" anchor="ctr">
            <a:noAutofit/>
          </a:bodyPr>
          <a:lstStyle/>
          <a:p>
            <a:pPr algn="l">
              <a:lnSpc>
                <a:spcPts val="4320"/>
              </a:lnSpc>
            </a:pPr>
            <a:r>
              <a:rPr sz="3600" b="0" i="1">
                <a:solidFill>
                  <a:srgbClr val="8A6A1C"/>
                </a:solidFill>
                <a:latin typeface="Cormorant Garamond"/>
              </a:rPr>
              <a:t>Treat biology — not trends.</a:t>
            </a:r>
          </a:p>
        </p:txBody>
      </p:sp>
      <p:sp>
        <p:nvSpPr>
          <p:cNvPr id="16" name="TextBox 15"/>
          <p:cNvSpPr txBox="1"/>
          <p:nvPr/>
        </p:nvSpPr>
        <p:spPr>
          <a:xfrm>
            <a:off x="812798" y="6305534"/>
            <a:ext cx="10234904" cy="6350"/>
          </a:xfrm>
          <a:prstGeom prst="rect">
            <a:avLst/>
          </a:prstGeom>
          <a:noFill/>
        </p:spPr>
        <p:txBody>
          <a:bodyPr wrap="none" lIns="0" rIns="0" tIns="0" bIns="0" anchor="ctr">
            <a:noAutofit/>
          </a:bodyPr>
          <a:lstStyle/>
          <a:p>
            <a:pPr algn="l">
              <a:lnSpc>
                <a:spcPts val="1439"/>
              </a:lnSpc>
            </a:pPr>
          </a:p>
        </p:txBody>
      </p:sp>
      <p:sp>
        <p:nvSpPr>
          <p:cNvPr id="17" name="TextBox 16"/>
          <p:cNvSpPr txBox="1"/>
          <p:nvPr/>
        </p:nvSpPr>
        <p:spPr>
          <a:xfrm>
            <a:off x="11250901" y="6197584"/>
            <a:ext cx="128270" cy="215899"/>
          </a:xfrm>
          <a:prstGeom prst="rect">
            <a:avLst/>
          </a:prstGeom>
          <a:noFill/>
        </p:spPr>
        <p:txBody>
          <a:bodyPr wrap="none" lIns="0" rIns="0" tIns="0" bIns="0" anchor="ctr">
            <a:noAutofit/>
          </a:bodyPr>
          <a:lstStyle/>
          <a:p>
            <a:pPr algn="l">
              <a:lnSpc>
                <a:spcPts val="1680"/>
              </a:lnSpc>
            </a:pPr>
            <a:r>
              <a:rPr sz="1400" b="0" i="0">
                <a:solidFill>
                  <a:srgbClr val="7C7365"/>
                </a:solidFill>
                <a:latin typeface="Cormorant Garamond"/>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cxnSp>
        <p:nvCxnSpPr>
          <p:cNvPr id="2" name="Connector 1"/>
          <p:cNvCxnSpPr/>
          <p:nvPr/>
        </p:nvCxnSpPr>
        <p:spPr>
          <a:xfrm>
            <a:off x="812798" y="6064235"/>
            <a:ext cx="10566373" cy="0"/>
          </a:xfrm>
          <a:prstGeom prst="line">
            <a:avLst/>
          </a:prstGeom>
          <a:ln w="6350">
            <a:solidFill>
              <a:srgbClr val="E4D5AC"/>
            </a:solidFill>
          </a:ln>
        </p:spPr>
        <p:style>
          <a:lnRef idx="2">
            <a:schemeClr val="accent1"/>
          </a:lnRef>
          <a:fillRef idx="0">
            <a:schemeClr val="accent1"/>
          </a:fillRef>
          <a:effectRef idx="1">
            <a:schemeClr val="accent1"/>
          </a:effectRef>
          <a:fontRef idx="minor">
            <a:schemeClr val="tx1"/>
          </a:fontRef>
        </p:style>
      </p:cxnSp>
      <p:pic>
        <p:nvPicPr>
          <p:cNvPr id="3" name="Picture 2" descr="s14-0.png"/>
          <p:cNvPicPr>
            <a:picLocks noChangeAspect="1"/>
          </p:cNvPicPr>
          <p:nvPr/>
        </p:nvPicPr>
        <p:blipFill>
          <a:blip r:embed="rId2"/>
          <a:stretch>
            <a:fillRect/>
          </a:stretch>
        </p:blipFill>
        <p:spPr>
          <a:xfrm>
            <a:off x="2856286" y="3441691"/>
            <a:ext cx="1460496" cy="1460496"/>
          </a:xfrm>
          <a:prstGeom prst="rect">
            <a:avLst/>
          </a:prstGeom>
        </p:spPr>
      </p:pic>
      <p:pic>
        <p:nvPicPr>
          <p:cNvPr id="4" name="Picture 3" descr="s14-1.png"/>
          <p:cNvPicPr>
            <a:picLocks noChangeAspect="1"/>
          </p:cNvPicPr>
          <p:nvPr/>
        </p:nvPicPr>
        <p:blipFill>
          <a:blip r:embed="rId3"/>
          <a:stretch>
            <a:fillRect/>
          </a:stretch>
        </p:blipFill>
        <p:spPr>
          <a:xfrm>
            <a:off x="6886367" y="3441691"/>
            <a:ext cx="1460496" cy="1460496"/>
          </a:xfrm>
          <a:prstGeom prst="rect">
            <a:avLst/>
          </a:prstGeom>
        </p:spPr>
      </p:pic>
      <p:sp>
        <p:nvSpPr>
          <p:cNvPr id="5" name="TextBox 4"/>
          <p:cNvSpPr txBox="1"/>
          <p:nvPr/>
        </p:nvSpPr>
        <p:spPr>
          <a:xfrm>
            <a:off x="812798" y="558799"/>
            <a:ext cx="10566373" cy="203199"/>
          </a:xfrm>
          <a:prstGeom prst="rect">
            <a:avLst/>
          </a:prstGeom>
          <a:noFill/>
        </p:spPr>
        <p:txBody>
          <a:bodyPr wrap="none" lIns="0" rIns="0" tIns="0" bIns="0" anchor="ctr">
            <a:noAutofit/>
          </a:bodyPr>
          <a:lstStyle/>
          <a:p>
            <a:pPr algn="l">
              <a:lnSpc>
                <a:spcPts val="1560"/>
              </a:lnSpc>
            </a:pPr>
            <a:r>
              <a:rPr sz="1300" b="1" i="0" spc="416">
                <a:solidFill>
                  <a:srgbClr val="8A6A1C"/>
                </a:solidFill>
                <a:latin typeface="Montserrat"/>
              </a:rPr>
              <a:t>THANK YOU</a:t>
            </a:r>
          </a:p>
        </p:txBody>
      </p:sp>
      <p:sp>
        <p:nvSpPr>
          <p:cNvPr id="6" name="TextBox 5"/>
          <p:cNvSpPr txBox="1"/>
          <p:nvPr/>
        </p:nvSpPr>
        <p:spPr>
          <a:xfrm>
            <a:off x="3479474" y="1479546"/>
            <a:ext cx="5232895" cy="742948"/>
          </a:xfrm>
          <a:prstGeom prst="rect">
            <a:avLst/>
          </a:prstGeom>
          <a:noFill/>
        </p:spPr>
        <p:txBody>
          <a:bodyPr wrap="none" lIns="0" rIns="0" tIns="0" bIns="0" anchor="ctr">
            <a:noAutofit/>
          </a:bodyPr>
          <a:lstStyle/>
          <a:p>
            <a:pPr algn="ctr">
              <a:lnSpc>
                <a:spcPts val="5759"/>
              </a:lnSpc>
            </a:pPr>
            <a:r>
              <a:rPr sz="4800" b="1" i="0">
                <a:solidFill>
                  <a:srgbClr val="2E2B26"/>
                </a:solidFill>
                <a:latin typeface="Cormorant Garamond"/>
              </a:rPr>
              <a:t>Dr. Nadeen Kabboura</a:t>
            </a:r>
          </a:p>
        </p:txBody>
      </p:sp>
      <p:sp>
        <p:nvSpPr>
          <p:cNvPr id="7" name="TextBox 6"/>
          <p:cNvSpPr txBox="1"/>
          <p:nvPr/>
        </p:nvSpPr>
        <p:spPr>
          <a:xfrm>
            <a:off x="2705982" y="2336794"/>
            <a:ext cx="6779878" cy="234949"/>
          </a:xfrm>
          <a:prstGeom prst="rect">
            <a:avLst/>
          </a:prstGeom>
          <a:noFill/>
        </p:spPr>
        <p:txBody>
          <a:bodyPr wrap="none" lIns="0" rIns="0" tIns="0" bIns="0" anchor="ctr">
            <a:noAutofit/>
          </a:bodyPr>
          <a:lstStyle/>
          <a:p>
            <a:pPr algn="ctr">
              <a:lnSpc>
                <a:spcPts val="1800"/>
              </a:lnSpc>
            </a:pPr>
            <a:r>
              <a:rPr sz="1500" b="0" i="0" spc="90">
                <a:solidFill>
                  <a:srgbClr val="7C7365"/>
                </a:solidFill>
                <a:latin typeface="Montserrat"/>
              </a:rPr>
              <a:t>Obstetrics &amp; Gynaecology · Aesthetic and Regenerative Medicine</a:t>
            </a:r>
          </a:p>
        </p:txBody>
      </p:sp>
      <p:sp>
        <p:nvSpPr>
          <p:cNvPr id="8" name="TextBox 7"/>
          <p:cNvSpPr txBox="1"/>
          <p:nvPr/>
        </p:nvSpPr>
        <p:spPr>
          <a:xfrm>
            <a:off x="2760528" y="2787643"/>
            <a:ext cx="6670849" cy="247649"/>
          </a:xfrm>
          <a:prstGeom prst="rect">
            <a:avLst/>
          </a:prstGeom>
          <a:noFill/>
        </p:spPr>
        <p:txBody>
          <a:bodyPr wrap="none" lIns="0" rIns="0" tIns="0" bIns="0" anchor="ctr">
            <a:noAutofit/>
          </a:bodyPr>
          <a:lstStyle/>
          <a:p>
            <a:pPr algn="ctr">
              <a:lnSpc>
                <a:spcPts val="1920"/>
              </a:lnSpc>
            </a:pPr>
            <a:r>
              <a:rPr sz="1600" b="0" i="0" spc="96">
                <a:solidFill>
                  <a:srgbClr val="8A6A1C"/>
                </a:solidFill>
                <a:latin typeface="Montserrat"/>
              </a:rPr>
              <a:t>@drnadeenkabbouraofficial · nadeenkabboura@gmail.com</a:t>
            </a:r>
          </a:p>
        </p:txBody>
      </p:sp>
      <p:sp>
        <p:nvSpPr>
          <p:cNvPr id="9" name="TextBox 8"/>
          <p:cNvSpPr txBox="1"/>
          <p:nvPr/>
        </p:nvSpPr>
        <p:spPr>
          <a:xfrm>
            <a:off x="2856286" y="5029187"/>
            <a:ext cx="3268083" cy="203199"/>
          </a:xfrm>
          <a:prstGeom prst="rect">
            <a:avLst/>
          </a:prstGeom>
          <a:noFill/>
        </p:spPr>
        <p:txBody>
          <a:bodyPr wrap="none" lIns="0" rIns="0" tIns="0" bIns="0" anchor="ctr">
            <a:noAutofit/>
          </a:bodyPr>
          <a:lstStyle/>
          <a:p>
            <a:pPr algn="ctr">
              <a:lnSpc>
                <a:spcPts val="1560"/>
              </a:lnSpc>
            </a:pPr>
            <a:r>
              <a:rPr sz="1300" b="1" i="0" spc="260">
                <a:solidFill>
                  <a:srgbClr val="453F35"/>
                </a:solidFill>
                <a:latin typeface="Montserrat"/>
              </a:rPr>
              <a:t>FULL BIBLIOGRAPHY</a:t>
            </a:r>
          </a:p>
        </p:txBody>
      </p:sp>
      <p:sp>
        <p:nvSpPr>
          <p:cNvPr id="10" name="TextBox 9"/>
          <p:cNvSpPr txBox="1"/>
          <p:nvPr/>
        </p:nvSpPr>
        <p:spPr>
          <a:xfrm>
            <a:off x="2856286" y="5295887"/>
            <a:ext cx="3268083" cy="152400"/>
          </a:xfrm>
          <a:prstGeom prst="rect">
            <a:avLst/>
          </a:prstGeom>
          <a:noFill/>
        </p:spPr>
        <p:txBody>
          <a:bodyPr wrap="none" lIns="0" rIns="0" tIns="0" bIns="0" anchor="ctr">
            <a:noAutofit/>
          </a:bodyPr>
          <a:lstStyle/>
          <a:p>
            <a:pPr algn="ctr">
              <a:lnSpc>
                <a:spcPts val="1200"/>
              </a:lnSpc>
            </a:pPr>
            <a:r>
              <a:rPr sz="1000" b="0" i="0">
                <a:solidFill>
                  <a:srgbClr val="7C7365"/>
                </a:solidFill>
                <a:latin typeface="Montserrat"/>
              </a:rPr>
              <a:t>rayan-debug.github.io/nadine-/deck/references.html</a:t>
            </a:r>
          </a:p>
        </p:txBody>
      </p:sp>
      <p:sp>
        <p:nvSpPr>
          <p:cNvPr id="11" name="TextBox 10"/>
          <p:cNvSpPr txBox="1"/>
          <p:nvPr/>
        </p:nvSpPr>
        <p:spPr>
          <a:xfrm>
            <a:off x="6886367" y="5029187"/>
            <a:ext cx="2449189" cy="203199"/>
          </a:xfrm>
          <a:prstGeom prst="rect">
            <a:avLst/>
          </a:prstGeom>
          <a:noFill/>
        </p:spPr>
        <p:txBody>
          <a:bodyPr wrap="none" lIns="0" rIns="0" tIns="0" bIns="0" anchor="ctr">
            <a:noAutofit/>
          </a:bodyPr>
          <a:lstStyle/>
          <a:p>
            <a:pPr algn="ctr">
              <a:lnSpc>
                <a:spcPts val="1560"/>
              </a:lnSpc>
            </a:pPr>
            <a:r>
              <a:rPr sz="1300" b="1" i="0" spc="260">
                <a:solidFill>
                  <a:srgbClr val="453F35"/>
                </a:solidFill>
                <a:latin typeface="Montserrat"/>
              </a:rPr>
              <a:t>LECTURE RESOURCES</a:t>
            </a:r>
          </a:p>
        </p:txBody>
      </p:sp>
      <p:sp>
        <p:nvSpPr>
          <p:cNvPr id="12" name="TextBox 11"/>
          <p:cNvSpPr txBox="1"/>
          <p:nvPr/>
        </p:nvSpPr>
        <p:spPr>
          <a:xfrm>
            <a:off x="6886367" y="5295887"/>
            <a:ext cx="2449189" cy="152400"/>
          </a:xfrm>
          <a:prstGeom prst="rect">
            <a:avLst/>
          </a:prstGeom>
          <a:noFill/>
        </p:spPr>
        <p:txBody>
          <a:bodyPr wrap="none" lIns="0" rIns="0" tIns="0" bIns="0" anchor="ctr">
            <a:noAutofit/>
          </a:bodyPr>
          <a:lstStyle/>
          <a:p>
            <a:pPr algn="ctr">
              <a:lnSpc>
                <a:spcPts val="1200"/>
              </a:lnSpc>
            </a:pPr>
            <a:r>
              <a:rPr sz="1000" b="0" i="0">
                <a:solidFill>
                  <a:srgbClr val="7C7365"/>
                </a:solidFill>
                <a:latin typeface="Montserrat"/>
              </a:rPr>
              <a:t>rayan-debug.github.io/nadine-/</a:t>
            </a:r>
          </a:p>
        </p:txBody>
      </p:sp>
      <p:sp>
        <p:nvSpPr>
          <p:cNvPr id="13" name="TextBox 12"/>
          <p:cNvSpPr txBox="1"/>
          <p:nvPr/>
        </p:nvSpPr>
        <p:spPr>
          <a:xfrm>
            <a:off x="812798" y="6305534"/>
            <a:ext cx="10223855" cy="6350"/>
          </a:xfrm>
          <a:prstGeom prst="rect">
            <a:avLst/>
          </a:prstGeom>
          <a:noFill/>
        </p:spPr>
        <p:txBody>
          <a:bodyPr wrap="none" lIns="0" rIns="0" tIns="0" bIns="0" anchor="ctr">
            <a:noAutofit/>
          </a:bodyPr>
          <a:lstStyle/>
          <a:p>
            <a:pPr algn="l">
              <a:lnSpc>
                <a:spcPts val="1439"/>
              </a:lnSpc>
            </a:pPr>
          </a:p>
        </p:txBody>
      </p:sp>
      <p:sp>
        <p:nvSpPr>
          <p:cNvPr id="14" name="TextBox 13"/>
          <p:cNvSpPr txBox="1"/>
          <p:nvPr/>
        </p:nvSpPr>
        <p:spPr>
          <a:xfrm>
            <a:off x="11239852" y="6197584"/>
            <a:ext cx="139319" cy="215899"/>
          </a:xfrm>
          <a:prstGeom prst="rect">
            <a:avLst/>
          </a:prstGeom>
          <a:noFill/>
        </p:spPr>
        <p:txBody>
          <a:bodyPr wrap="none" lIns="0" rIns="0" tIns="0" bIns="0" anchor="ctr">
            <a:noAutofit/>
          </a:bodyPr>
          <a:lstStyle/>
          <a:p>
            <a:pPr algn="l">
              <a:lnSpc>
                <a:spcPts val="1680"/>
              </a:lnSpc>
            </a:pPr>
            <a:r>
              <a:rPr sz="1400" b="0" i="0">
                <a:solidFill>
                  <a:srgbClr val="7C7365"/>
                </a:solidFill>
                <a:latin typeface="Cormorant Garamond"/>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